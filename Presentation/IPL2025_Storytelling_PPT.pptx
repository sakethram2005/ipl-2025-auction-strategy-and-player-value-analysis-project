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7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6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07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486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2025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13112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STRATEGY &amp;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VALUE ANALYSIS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0" y="3063240"/>
            <a:ext cx="45720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and Visualization   ·   DSL251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3657600"/>
            <a:ext cx="347472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34640" y="3657600"/>
            <a:ext cx="50292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369417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Thammandra Saketh Ram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99232" y="40873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B24DS034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Overview   ·   Phase Dynamics   ·   Batting Overview  ·   Bowling Overview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Economics   ·   Venues &amp; Pitches   ·   Home Advantage   ·   Value Quadrants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League Landscape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02920" y="3886200"/>
            <a:ext cx="1691640" cy="80467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3886200"/>
            <a:ext cx="50292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39319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67512" y="43342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Matches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87752" y="3886200"/>
            <a:ext cx="1691640" cy="80467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87752" y="3886200"/>
            <a:ext cx="50292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2344" y="39319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52344" y="43342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72584" y="3886200"/>
            <a:ext cx="1691640" cy="80467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2584" y="3886200"/>
            <a:ext cx="50292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39319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37176" y="43342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Games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57416" y="3886200"/>
            <a:ext cx="1691640" cy="80467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57416" y="3886200"/>
            <a:ext cx="50292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39319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22008" y="43342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Playoff Matches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84048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Ruled the League Stage?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9601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2025 Team Win % — League Stage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280160"/>
            <a:ext cx="5303520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33872" y="1280160"/>
            <a:ext cx="3127248" cy="3657600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33872" y="1280160"/>
            <a:ext cx="50292" cy="3657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71032" y="1389888"/>
            <a:ext cx="2898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this calculated?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71032" y="1700784"/>
            <a:ext cx="2898648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% = Wins ÷ Matches played by that team (not total league matches). PBKS played 17, CSK played only 9.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PBKS &amp; RCB jointly topped at 69.2% — both won exactly 9 matches each from different total fixtures.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(64.3%) and MI (57.1%) secured 3rd and 4th, both above the 50% playoff threshold.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KKR — defending champions — crashed to 41.7%. RR and CSK at 28.6% were the biggest underperformers relative to their auction spend.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 of 10 teams finished above 50% — the league was evenly contested, not dominated by one franchise.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188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of the Game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20-over structure that decides match outcomes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7315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Winning the Toss Actually Matter?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654499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decision distribution and resulting win rates across all 74 matches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924950"/>
            <a:ext cx="548640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57316" y="910531"/>
            <a:ext cx="2971800" cy="3291840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80879" y="910531"/>
            <a:ext cx="50292" cy="3291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71616" y="97128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Toss Analysis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71616" y="1306360"/>
            <a:ext cx="27432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81.1% of captains chose to field after winning the toss — an overwhelming preference for chasing in T20.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chasing teams won only 31.7% and batting-first teams won only 21.4% — both below the 50% coin-flip baseline.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counter-intuitive finding: winning the toss does NOT give a decisive tactical edge.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composition and in-match execution matter far more than the toss decision. Teams that relied on toss strategy as an advantage were misguided.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" y="4291350"/>
            <a:ext cx="1691640" cy="80467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4330" y="4279392"/>
            <a:ext cx="50292" cy="8046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8922" y="432511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18922" y="4765079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Field First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76272" y="4291350"/>
            <a:ext cx="1691640" cy="80467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Shape 14"/>
          <p:cNvSpPr/>
          <p:nvPr/>
        </p:nvSpPr>
        <p:spPr>
          <a:xfrm>
            <a:off x="2176272" y="4299087"/>
            <a:ext cx="50292" cy="8046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40864" y="4344807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2340864" y="4747143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Win Rate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954780" y="4291350"/>
            <a:ext cx="1691640" cy="80467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982212" y="4299087"/>
            <a:ext cx="50292" cy="8046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46804" y="4344807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4146804" y="4747143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Bat-First Win Rate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221214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 vs Death: The 20-Over Battle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97764" y="727827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rate &amp; wickets by phase — where do matches tilt and why?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7764" y="1038723"/>
            <a:ext cx="4114800" cy="27432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22292" y="1038723"/>
            <a:ext cx="4297680" cy="2743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97764" y="3891651"/>
            <a:ext cx="8412480" cy="80467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16052" y="3891651"/>
            <a:ext cx="50292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6354" y="3840480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game's momentum shifts across 20 overs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6354" y="4151376"/>
            <a:ext cx="818388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overs (16–20) average 10.96 runs/over vs 9.62 in powerplay — a 14% surge.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wickets chart shows a paradox: more wickets fall in death overs in absolute count, but </a:t>
            </a: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balls-per-wicket is LOWER in powerplay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bowlers strike more frequently per ball in overs 1–6. This confirms powerplay bowlers must do a dual job: restrict runs AND take early wickets. Death bowlers face batters going purely for power.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8686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Phase-Specific Batting by Team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" y="65379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 (left) and Death Overs (right) run rates — which squads exploit each phase?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64692"/>
            <a:ext cx="4343400" cy="28346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964692"/>
            <a:ext cx="4297680" cy="2834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4320" y="3899564"/>
            <a:ext cx="8412480" cy="71323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56032" y="3909060"/>
            <a:ext cx="50292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04622" y="3968496"/>
            <a:ext cx="81838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Powerplay: RR leads at 10.54 runs/over — evidence of dominant openers. CSK trails at 8.43 — a structural gap.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Overs: PBKS explodes at 11.58 — their finisher combination was the best in IPL 2025. CSK again trails at 9.16. A team strong in BOTH phases is almost guaranteed a high total. Lagging in both signals franchise-level squad-building failures that expensive signings alone cannot fix.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6858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Phase-Specific Bowling Economy by Team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" y="6355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 (left) and Death Overs (right) economy — lower is better | Red dashed line = league average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46404"/>
            <a:ext cx="4343400" cy="288036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946404"/>
            <a:ext cx="4297680" cy="28803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6032" y="3936492"/>
            <a:ext cx="8412480" cy="658368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56032" y="3936492"/>
            <a:ext cx="50292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95478" y="3976233"/>
            <a:ext cx="818388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Powerplay: RCB leads at 8.52 — their opening bowlers consistently throttled opponents in the first 6 overs. LSG conceded 10.27 — a structural gap.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Death: KKR best at 9.49. RR leaks 11.51 — exposing why they struggled in close games. Teams performing well in BOTH phases (RCB, MI, KKR) correlated strongly with top-4 finishes. Bowling cohesion beats individual stars.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188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Overview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scored the runs — and who was truly worth it?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84048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Run Scorers of IPL 2025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9509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total runs | Min. qualification: 5 innings played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42432" y="1261872"/>
            <a:ext cx="3218688" cy="3657600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42432" y="1261872"/>
            <a:ext cx="50292" cy="3657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79592" y="137160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Top 10 was derived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79592" y="1682496"/>
            <a:ext cx="2990088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Total runs scored across all league matches. Minimum 5 innings to qualify.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Sudharsan (759, GT) and Yadav/SKY (717, MI) lead — no single franchise monopolised the top spots.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Kohli (657) and Gill (650) in 3rd and 4th confirm their positions as anchors of their franchises.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several top-10 scorers like Sudharsan cost relatively little — reinforcing the market inefficiency angle explored later.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(545) as 10th confirms depth of batting talent available beyond marquee names.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4E62B0-7F46-0654-2537-636E6469E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261872"/>
            <a:ext cx="5212079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-8722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Average vs Strike Rate: The Value Map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4797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size = runs scored | Colour = auction price (darker = more expensive)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772316"/>
            <a:ext cx="8458200" cy="3703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4512212"/>
            <a:ext cx="8503920" cy="631288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" y="4512211"/>
            <a:ext cx="50292" cy="631287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" y="50932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603652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QUADRANT (ideal — high Avg + high SR):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rarest and most desirable. Several LIGHT-coloured (cheap) dots sit here — the clearest proof of auction undervaluation. Large DARK (expensive) bubbles appear across ALL quadrants — money did not reliably buy elite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858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Distribution &amp; The Price-Runs Relationship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6355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batters score their runs — and whether high auction prices guarantee more of them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46404"/>
            <a:ext cx="4114800" cy="292608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44568" y="946404"/>
            <a:ext cx="4297680" cy="2926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8328" y="3982212"/>
            <a:ext cx="8412480" cy="640080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3982212"/>
            <a:ext cx="5029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8630" y="3987487"/>
            <a:ext cx="81838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% peaks at 65–70% for most batters — a healthy norm. Batters above 80% are pure death hitters with limited overall innings.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vs Runs scatter shows r=0.58 — </a:t>
            </a: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but weak relationship.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Several low-price dots sit above the trend line — they punched far above their auction valuation. This scatter is the first visual foundation for our undervalued player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8404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Destroys Bowlers in Death Overs?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95097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Overs Strike Rate — Top 15 Batters (overs 16–20) | Min. 20 balls faced in death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261872"/>
            <a:ext cx="5532120" cy="3703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89320" y="1261872"/>
            <a:ext cx="2971800" cy="3703320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89320" y="1261872"/>
            <a:ext cx="50292" cy="3703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Top 15 was derived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26480" y="1682496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Strike Rate in overs 16–20 only (death phase), minimum 20 balls faced in death to qualify.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Stoinis tops at SR 289 — nearly 3 runs per ball. R. Shepherd (278) and L. Livingstone (261) follow.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exceed SR 200 — confirming death specialists are a distinct player class with rare, game-changing value.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gradient (green→red) shows SR decline down the list. Even rank 15 (J. Sharma at 200) is elite by any standard.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finishers like R. Shepherd deliver explosive return — critical for the value analysis ahead.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1752" y="6858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SR vs Price — Value in the Final Overs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01752" y="6355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size = balls faced in death | Colour = death SR (green=high, red=low) | 4-quadrant value map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1752" y="928116"/>
            <a:ext cx="8458200" cy="3703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1752" y="4668012"/>
            <a:ext cx="8458200" cy="406908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01752" y="4668012"/>
            <a:ext cx="50292" cy="4069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67944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679442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= UNDERVALUED FINISHERS: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Shepherd &amp; L. Livingstone — high death SR, cheap. BOTTOM-RIGHT = OVERPAID: big bubbles, mediocre death SR. M. Stoinis (mid-price) is the </a:t>
            </a: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best finisher by SR at a non-premium price.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1887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Deep Dive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took the wickets — and at what cost?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102694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Wickets Fall &amp; What Extras Cost Teams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66962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Dismissal mode distribution and extras breakdown across all league matches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980518"/>
            <a:ext cx="4114800" cy="28346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980518"/>
            <a:ext cx="4297680" cy="2834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" y="3924886"/>
            <a:ext cx="8412480" cy="71323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7472" y="3924886"/>
            <a:ext cx="50292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9486" y="4043758"/>
            <a:ext cx="81838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dominates at 72.5% of all dismissals — confirming that aggressive fielding placements on boundary edges are the #1 wicket-taking strategy.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 account for 69.1% of all extras, gifting runs freely. Every wide in death overs costs teams position — controlling wides is a simple but high-impact discipline metric that separates elite bowling attacks from average ones.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8891" y="-40093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Wicket Takers of IPL 2025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56032" y="398819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total wickets | Economy vs Average scatter reveals who was also economical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24288" y="709715"/>
            <a:ext cx="4353951" cy="3657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6032" y="4477043"/>
            <a:ext cx="8412480" cy="502920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56032" y="4477042"/>
            <a:ext cx="45719" cy="502921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" y="5138928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35395" y="4477043"/>
            <a:ext cx="818388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Top 10 derived: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wickets in league stage, all bowlers who bowled at least 5 overs. Krishna (25) and Ahmad (24) led. Scatter: BOTTOM-LEFT = ideal (low economy + low avg). Ahmad, Hazlewood, Krishna cluster here — premium value. High-price dots in top-right = overvalued reputation buys.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572288-0F6B-8E35-16BF-4B13AE32D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1" y="709715"/>
            <a:ext cx="401703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104101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Bowling Figures &amp; Price vs Wickets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671029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 haul distribution and whether auction price predicts wicket output (r=0.56)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981925"/>
            <a:ext cx="4114800" cy="292608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981925"/>
            <a:ext cx="4297680" cy="2926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" y="4017733"/>
            <a:ext cx="8412480" cy="640080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7472" y="4017733"/>
            <a:ext cx="5029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0060" y="3962869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wickets are weakly correlated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0060" y="4101436"/>
            <a:ext cx="81838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 shows most bowlers peaked at 2–3 wicket hauls in their best match — 4+ hauls are rare and extremely valuable.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Wickets scatter (r=0.56): </a:t>
            </a: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positive link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many cheap bowlers took identical or more wickets than expensive counterparts. This disconnect is the core finding driving the overvalued bowler list ahead.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-80011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 Economy: Best Bowling Restrictors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01752" y="434339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by PP economy (left) · PP Economy vs Price scatter (right) | Min. 3 powerplay overs bowled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95929" y="745235"/>
            <a:ext cx="4892040" cy="35204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01752" y="4375403"/>
            <a:ext cx="8412480" cy="608780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01752" y="4375403"/>
            <a:ext cx="50292" cy="6087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" y="5001768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1772" y="4528741"/>
            <a:ext cx="818388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Top 15 derived: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 economy rate (runs conceded per over in overs 1–6), min 3 overs bowled. R. Khan (5.67) and M. Ali (5.86) are world-class. Scatter: top-left = cheap AND restrictive = best PP value. Chakravarthy, Ferguson, Sharma deliver at under ₹5Cr.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22CCB1-5399-7E4F-BAAD-DE0F98EF9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1" y="745235"/>
            <a:ext cx="3653497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Economics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price paid and value delivered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8404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Price Vary by Role and Status?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95097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price distribution by role (batter/bowler/all-rounder) and retained vs auctioned players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261872"/>
            <a:ext cx="4114800" cy="292608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1261872"/>
            <a:ext cx="4297680" cy="2926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" y="4297680"/>
            <a:ext cx="8412480" cy="640080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7472" y="4297680"/>
            <a:ext cx="5029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1772" y="4334256"/>
            <a:ext cx="81838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Batters command the highest median prices — IPL's batting-centric valuation philosophy is visible in data.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players average ₹12Cr vs only ₹4.8Cr for auctioned players. But the auctioned pool had wide spread — if franchises scouted correctly, incredible bargains were available at ₹0.3–₹2Cr. This is where the undervalued gems were hiding.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-32004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Money Go?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41640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most expensive players and total team roster value — does squad spend predict results?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727300"/>
            <a:ext cx="4343400" cy="35204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727300"/>
            <a:ext cx="4160520" cy="35204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" y="4355359"/>
            <a:ext cx="8412480" cy="53457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7472" y="4357468"/>
            <a:ext cx="50292" cy="5345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" y="5001768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7492" y="4440467"/>
            <a:ext cx="818388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15 most expensive players are batters — confirming batting is systematically overpriced.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roster chart: RR &amp; CSK spent most (₹117–116Cr) yet finished BOTTOM. DC spent least (₹85Cr) and QUALIFIED for playoffs. Budget allocation and squad depth beat total spend.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-80185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Premium &amp; Most Efficient Batters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86743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by player status (left) | Most efficient batters by Runs per ₹Crore (right)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97639"/>
            <a:ext cx="3566160" cy="35204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4427806"/>
            <a:ext cx="8412480" cy="464233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4427806"/>
            <a:ext cx="50292" cy="464233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" y="5001768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4412333"/>
            <a:ext cx="818388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ranking works: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÷ Auction Price (₹Cr). Uncapped players average ₹1.7Cr vs ₹12Cr for retained — 7× premium. Yet A. Verma (786.7 runs/Cr at ₹0.3Cr), K. Nair (396/Cr) and R. Rickelton (388/Cr) massively outperform their price. These are the bargain batters franchises should have fought for.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E1F3AB-39A6-F5FE-75C1-0B417CD0B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257" y="797639"/>
            <a:ext cx="4821703" cy="352043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" y="6858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Auction Value: Runs per ₹Crore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510131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Undervalued (left) vs Overvalued (right) — runs delivered per rupee spent at auction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02739"/>
            <a:ext cx="8503920" cy="36758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570066"/>
            <a:ext cx="8412480" cy="405499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4570066"/>
            <a:ext cx="50292" cy="405499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" y="5120640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2628" y="4578507"/>
            <a:ext cx="818388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Verma at 786.7 runs/Cr (₹0.3Cr) is 130× more efficient than V. Iyer (5.98 runs/Cr at ₹23.75Cr). </a:t>
            </a: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Pant spent ₹27Cr — the most of any player — yet delivered only 9.96 runs/Cr.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anticipation premiums dominated rational performance valuation.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-4835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Auction Value: Wickets per ₹Crore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4119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Undervalued (left) vs Overvalued (right) — wickets delivered per rupee spent at auction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33806"/>
            <a:ext cx="8503920" cy="36758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501133"/>
            <a:ext cx="8412480" cy="466325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4501133"/>
            <a:ext cx="50292" cy="466325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" y="5120640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" y="4485132"/>
            <a:ext cx="818388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Kumar: 36.6 wickets/Cr at ₹0.3Cr — extraordinary market inefficiency. </a:t>
            </a: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Khan: 0.5 wkts/Cr at ₹18Cr — brand premium paid without proportional output.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Bumrah, Pathirana, Narine all at 1.0 wkt/Cr — high price, consistent premium output — the only justified expensive bowlers in the dataset.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18872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&amp; Pitches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matches are won — and how pitch conditions shape strategy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1752" y="20574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Venues: Run Totals &amp; Pitch Category Breakdown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01752" y="7726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innings score by venue (left) | Pitch category distribution across all 17 IPL 2025 venues (right)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1752" y="1083564"/>
            <a:ext cx="4114800" cy="292608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6280" y="1083564"/>
            <a:ext cx="4297680" cy="2926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" y="4297680"/>
            <a:ext cx="8412480" cy="640080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7472" y="4297680"/>
            <a:ext cx="5029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4354654"/>
            <a:ext cx="81838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Rajiv Gandhi Stadium (194) and Sawai Mansingh (191) are the highest-scoring grounds — batters' paradise. Maharaja Yadavindra (151) suppresses totals most.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distribution: 47% Mixed, 29% Batting-friendly, only 12% each Balanced and Pace-friendly. Mixed pitches dominate — franchises need all-round squads, not specialists. Understanding your home pitch type is critical for smart auction targeting.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-4514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Dynamics &amp; Phase Scoring Across Venues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47320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win% per venue (left) | Powerplay and Death run rates by ground (right)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765810"/>
            <a:ext cx="4224528" cy="361188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16897" y="765810"/>
            <a:ext cx="4079631" cy="36118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97764" y="4586860"/>
            <a:ext cx="8412480" cy="488060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97764" y="4586860"/>
            <a:ext cx="50292" cy="4880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84632" y="5074920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34924" y="4586859"/>
            <a:ext cx="818388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bars = chase wins &gt;50%. Bharat Ratna (75%) and Rajiv Gandhi (66.7%) massively favour chasers — teams with deep batting lineups love these venues. </a:t>
            </a: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Narendra Modi Stadium (22.2%) is a bat-first fortress. Hyderabad (100% bat-first win rate) is the most extreme — always set a target there.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37744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First or Bowl First? The Venue &amp; Pitch Verdict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Win% by venue-city (left) and pitch category (right) — the data-driven toss decision guide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15568"/>
            <a:ext cx="4846320" cy="28346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76088" y="1115568"/>
            <a:ext cx="3657600" cy="2834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6042" y="4192524"/>
            <a:ext cx="8412480" cy="71323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7472" y="4206240"/>
            <a:ext cx="50292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4273413"/>
            <a:ext cx="81838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(Mixed): 100% bat-first. Jaipur (86%) and Delhi (75%) — set a target. Chennai: 86% bowl-first — always field there.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verdict: Pace-friendly tracks give bowl-first teams 67% win rate — the clearest pitch advantage. Mixed pitches (n=49, most common) are nearly balanced at 55% bat-first. Smart captains read the pitch category and act accordingly — this data should replace gut instinct entirely.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108673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 Capacity &amp; Metric Correlations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675601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ground size affect scores? Batting and bowling metric correlation heatmaps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165860"/>
            <a:ext cx="3017520" cy="292608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165860"/>
            <a:ext cx="2834640" cy="29260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47472" y="4297680"/>
            <a:ext cx="8412480" cy="640080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47472" y="4297680"/>
            <a:ext cx="50292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0342" y="4229100"/>
            <a:ext cx="81838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vs score: NO strong linear relationship — large grounds do not necessarily produce low scores. Geography and pitch preparation matter more.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heatmap: Runs, BF, Fours tightly correlated (0.8+). Price_Cr weakly correlates with performance metrics — confirming auction inefficiency. Bowling heatmap: WKTS and MAT correlate (volume bowlers take more wickets). Economy and Average are inversely linked — good bowlers ARE economical.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F919DD-3553-B465-C53F-52EFBF37B9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1259" y="1165860"/>
            <a:ext cx="3244362" cy="291992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188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Advantage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playing at home genuinely help — or is it a myth?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9144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Teams Build Their Squads?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Team-wise distribution of Retained, Capped, and Uncapped players across all 10 franchises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68680"/>
            <a:ext cx="8503920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4575518"/>
            <a:ext cx="8412480" cy="444539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" y="4575518"/>
            <a:ext cx="50292" cy="444539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" y="4937760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575518"/>
            <a:ext cx="818388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players (green) = highest-paid anchor cohort. Uncapped (orange) = bulk of cheap roster slots.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PBKS has the most uncapped players (7) — their strategy of betting on raw talent over established names. RCB and CSK leaned heavily on retained/capped names — a costlier, less flexible approach. Squad construction philosophy visible directly in this chart.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004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Win: Batting vs Bowling vs Balanced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5989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composition per team — Bat Dominant (red) | Bowl Dominant (green) | Balanced (blue)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91540"/>
            <a:ext cx="8503920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4594509"/>
            <a:ext cx="8412480" cy="507843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" y="4594509"/>
            <a:ext cx="50292" cy="507843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" y="4937760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594509"/>
            <a:ext cx="818388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wins 67% through bowling dominance — their pace attack is their identity.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PBKS is 56% bat-dominant — the run-scoring machine. GT (62% bowl-dominant) confirms bowling as their recipe. RCB is 62% bowl-dominant — surprising given their batting stars. CSK shows 33% in each category — balanced but underwhelming (only 6 wins). Balanced wins correlate most with consistent all-round squad depth.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60604" y="69283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vs Away: Batting Run Rate &amp; Bowling Economy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60604" y="636211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 genuinely benefit from home conditions — in both batting and bowling?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0604" y="947107"/>
            <a:ext cx="4343400" cy="288036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8012" y="947107"/>
            <a:ext cx="4297680" cy="28803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" y="4046923"/>
            <a:ext cx="8412480" cy="863405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7472" y="4046923"/>
            <a:ext cx="50292" cy="863405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7764" y="4046923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advantage is real but varies dramatically by franchise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97764" y="4357819"/>
            <a:ext cx="8183880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Batting: KKR, DC, SRH, GT all post clearly higher run rates at home. </a:t>
            </a: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CSK is the notable exception — they score BETTER away. Their home venue (Chennai) seems to suit opposition more.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Bowling: MI's economy jumps from ~8 at home to ~9 away — a 12.5% deterioration on foreign pitches. GT and KKR maintain tight economies even away — signalling true squad depth that transcends home conditions.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188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Quadrants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question: who was worth their price?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60604" y="182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Value Map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60604" y="58521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Composite Value Score (batters=circles, bowlers=triangles) | Radar confirms top player profiles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" y="868680"/>
            <a:ext cx="4663440" cy="37490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4541" y="868680"/>
            <a:ext cx="4459459" cy="3749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" y="4740814"/>
            <a:ext cx="8412480" cy="274320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7472" y="4740814"/>
            <a:ext cx="50292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" y="5184648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97764" y="4713381"/>
            <a:ext cx="818388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GREEN = UNDERVALUED: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Unadkat (₹1Cr), Suryavanshi (₹1.1Cr), Verma (₹0.3Cr) — extraordinary buys. </a:t>
            </a: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 ORANGE = OVERVALUED: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price, low value score. Radar charts confirm Bumrah's elite multi-dimensional profile justifying his ₹18Cr.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51189" y="-9144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Value Rankings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4114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Multi-metric composite score: Price Efficiency 25% | Avg 20% | SR 20% | PP-SR 17.5% | Death-Econ 17.5%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603504"/>
            <a:ext cx="7906129" cy="40325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" y="4636008"/>
            <a:ext cx="8412480" cy="50749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7472" y="4636008"/>
            <a:ext cx="50292" cy="5074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" y="5184648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11480" y="4636008"/>
            <a:ext cx="818388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Top 15 derived: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= weighted sum of 5 normalised metrics. Verma tops batters (0.62) despite scoring 252 runs — extreme price efficiency at ₹0.3Cr drives this. Unadkat tops bowlers (0.62) at ₹1Cr. Bumrah 2nd at 0.59 — the only premium player justifying his spot in top tier.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38328" y="902442"/>
            <a:ext cx="4224528" cy="1115568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902442"/>
            <a:ext cx="50292" cy="11155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" y="909476"/>
            <a:ext cx="420624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42062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05256" y="98473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Is Overrated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05256" y="1231626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chose to field, yet neither chasing (31.7%) nor batting-first (21.4%) delivered &gt;35% win rate for toss winners. Squad depth matters far more than the coin toss.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886968"/>
            <a:ext cx="4224528" cy="1115568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86968"/>
            <a:ext cx="50292" cy="11155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888" y="886968"/>
            <a:ext cx="420624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143000"/>
            <a:ext cx="42062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321808" y="9692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Overs Are the Real Battleground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21808" y="121615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rates spike to 10.96 in overs 16–20 vs 9.62 in powerplay (+14%). Teams with specialist finishers (SR&gt;200) consistently outperformed those without.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106636"/>
            <a:ext cx="4224528" cy="1115568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121408"/>
            <a:ext cx="50292" cy="11155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129145"/>
            <a:ext cx="420624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853" y="2129145"/>
            <a:ext cx="42062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4400" y="22037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≠ Performance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4400" y="245059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auction price and output: r=0.58 (batters), r=0.56 (bowlers) — both weak. RR &amp; CSK spent ₹117Cr+ and finished bottom. DC spent ₹85Cr and qualified.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121408"/>
            <a:ext cx="4224528" cy="1115568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121408"/>
            <a:ext cx="50292" cy="11155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18888" y="2121408"/>
            <a:ext cx="420624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377440"/>
            <a:ext cx="42062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321808" y="22037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Uncapped &amp; Budget Players Are Grossly Undervalued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21808" y="245059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Verma (786.7 runs/Cr at ₹0.3Cr), A. Kumar (36.6 wkts/Cr at ₹0.3Cr), J. Unadkat (0.62 composite score at ₹1Cr) — proof that the auctioned pool held extraordinary value.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3355848"/>
            <a:ext cx="4224528" cy="1115568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3355848"/>
            <a:ext cx="50292" cy="111556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355848"/>
            <a:ext cx="420624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611880"/>
            <a:ext cx="42062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14400" y="34381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Bumrah Remains Elite &amp; Fairly Priced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14400" y="368503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premium players, Bumrah (₹18Cr) achieved the highest bowling composite value score (0.59) — the only star-priced player in the top tier of value-for-money.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355848"/>
            <a:ext cx="4224528" cy="1115568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355848"/>
            <a:ext cx="50292" cy="1115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18888" y="3355848"/>
            <a:ext cx="420624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611880"/>
            <a:ext cx="42062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321808" y="34381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Advantage Is Real But Franchise-Specific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321808" y="368503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score higher at home. CSK is the anomaly — performing better away. MI's bowling economy worsens 12.5% away — home conditions are a genuine strategic asset.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7472" y="4590288"/>
            <a:ext cx="8458200" cy="658368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7472" y="4590288"/>
            <a:ext cx="50292" cy="65836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6908" y="4590288"/>
            <a:ext cx="420624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" y="4846320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465429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Teams Win Multiple Ways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14400" y="48828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(67% bowl dominant), PBKS (56% bat dominant), RCB (62% bowl dominant) — no single tactical blueprint dominates. Squads adaptable to both phases are hardest to beat.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3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920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means for IPL 2026 auction strategy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315968" cy="117043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50292" cy="11704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43584"/>
            <a:ext cx="347472" cy="347472"/>
          </a:xfrm>
          <a:prstGeom prst="ellipse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25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179576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Treating the Toss as a Strategic Tool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453896"/>
            <a:ext cx="367588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both chasing and batting-first win rates below 35%, the toss is a coin flip with a costume. Franchises that obsess over it in team selection are wasting cognitive budget that should go toward squad depth and phase-specific role clarity.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36592" y="1115568"/>
            <a:ext cx="4315968" cy="117043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115568"/>
            <a:ext cx="50292" cy="11704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243584"/>
            <a:ext cx="347472" cy="347472"/>
          </a:xfrm>
          <a:prstGeom prst="ellipse">
            <a:avLst/>
          </a:prstGeom>
          <a:solidFill>
            <a:srgbClr val="2EC4B6">
              <a:alpha val="25000"/>
            </a:srgbClr>
          </a:solidFill>
          <a:ln w="12700">
            <a:solidFill>
              <a:srgbClr val="2EC4B6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225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85232" y="1179576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Overs Are the Most Under-Priced Phase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85232" y="1453896"/>
            <a:ext cx="367588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14% run-rate surge in overs 16–20 makes finishers the most game-deciding role in T20 cricket. Yet players like Shepherd (SR 278, ₹1.5Cr) and Livingstone (SR 261, ₹8.75Cr) were acquired at prices that do not reflect this impact. The IPL auction systematically underprices death-phase specialists.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414016"/>
            <a:ext cx="4315968" cy="117043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14016"/>
            <a:ext cx="50292" cy="11704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542032"/>
            <a:ext cx="347472" cy="347472"/>
          </a:xfrm>
          <a:prstGeom prst="ellipse">
            <a:avLst/>
          </a:prstGeom>
          <a:solidFill>
            <a:srgbClr val="E76F51">
              <a:alpha val="25000"/>
            </a:srgbClr>
          </a:solidFill>
          <a:ln w="12700">
            <a:solidFill>
              <a:srgbClr val="E76F51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523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2478024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 Is Not a Squad-Building Strategy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752344"/>
            <a:ext cx="367588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(₹117Cr, 28.6% win rate) and CSK (₹116Cr, 28.6%) prove that total spend is a vanity metric. DC won a playoff spot for ₹85Cr — ₹32Cr cheaper. The conclusion is unambiguous: efficient allocation of mid-range budgets across phase-specific roles beats concentrated bets on marquee names.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36592" y="2414016"/>
            <a:ext cx="4315968" cy="117043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2414016"/>
            <a:ext cx="50292" cy="11704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542032"/>
            <a:ext cx="347472" cy="347472"/>
          </a:xfrm>
          <a:prstGeom prst="ellipse">
            <a:avLst/>
          </a:prstGeom>
          <a:solidFill>
            <a:srgbClr val="2DC653">
              <a:alpha val="25000"/>
            </a:srgbClr>
          </a:solidFill>
          <a:ln w="12700">
            <a:solidFill>
              <a:srgbClr val="2DC653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523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💎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85232" y="2478024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Auctioned Pool Hides the Best ROI in the League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85232" y="2752344"/>
            <a:ext cx="367588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Verma (786.7 runs/₹Cr at ₹0.3Cr) is 130× more efficient than V. Iyer (5.98 runs/₹Cr at ₹23.75Cr). A. Kumar (36.6 wkts/₹Cr at ₹0.3Cr) outperforms R. Khan (0.5 wkts/₹Cr at ₹18Cr) by 73×. The uncapped and auctioned pool is where championship-winning value is built — not in the retained or marquee segment.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712464"/>
            <a:ext cx="4315968" cy="117043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12464"/>
            <a:ext cx="50292" cy="1170432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3840480"/>
            <a:ext cx="347472" cy="347472"/>
          </a:xfrm>
          <a:prstGeom prst="ellipse">
            <a:avLst/>
          </a:prstGeom>
          <a:solidFill>
            <a:srgbClr val="A8DADC">
              <a:alpha val="25000"/>
            </a:srgbClr>
          </a:solidFill>
          <a:ln w="12700">
            <a:solidFill>
              <a:srgbClr val="A8DADC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822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🏟️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3776472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Intelligence Should Drive Squad Composition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4050792"/>
            <a:ext cx="367588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(100% bat-first win rate) and Chennai (86% bowl-first) require completely opposite team structures. Franchises building generic all-round squads are leaving tactical wins on the table. Home pitch category should be the starting point of every auction planning meeting — before any player name is discussed.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36592" y="3712464"/>
            <a:ext cx="4315968" cy="117043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36592" y="3712464"/>
            <a:ext cx="50292" cy="117043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840480"/>
            <a:ext cx="347472" cy="347472"/>
          </a:xfrm>
          <a:prstGeom prst="ellipse">
            <a:avLst/>
          </a:prstGeom>
          <a:solidFill>
            <a:srgbClr val="48CAE4">
              <a:alpha val="25000"/>
            </a:srgbClr>
          </a:solidFill>
          <a:ln w="12700">
            <a:solidFill>
              <a:srgbClr val="48CAE4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822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🏆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85232" y="3776472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 for IPL 2026: Depth Over Stars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85232" y="4050792"/>
            <a:ext cx="367588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PBKS won 69.2% of their matches using the highest number of uncapped players (7) in any squad. RCB matched them with a balanced retained core plus smart mid-range buys. The formula is clear: identify 2–3 phase specialists at under ₹3Cr, one world-class anchor, and invest remaining budget in squad depth — not in chasing brand names past ₹20Cr.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2560320" y="1603717"/>
            <a:ext cx="4023360" cy="411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6212" y="2240280"/>
            <a:ext cx="1691640" cy="80467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96212" y="2240280"/>
            <a:ext cx="50292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60804" y="228600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60804" y="26883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26180" y="2240280"/>
            <a:ext cx="1691640" cy="80467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6180" y="2240280"/>
            <a:ext cx="50292" cy="8046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90772" y="228600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890772" y="26883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56148" y="2240280"/>
            <a:ext cx="1691640" cy="804672"/>
          </a:xfrm>
          <a:prstGeom prst="rect">
            <a:avLst/>
          </a:prstGeom>
          <a:solidFill>
            <a:srgbClr val="1A3045"/>
          </a:solidFill>
          <a:ln w="12700">
            <a:solidFill>
              <a:srgbClr val="1A304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56148" y="2240280"/>
            <a:ext cx="50292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0740" y="228600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20740" y="26883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0" y="3429000"/>
            <a:ext cx="329184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926080" y="3429000"/>
            <a:ext cx="50292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3465576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Thammandra Saketh Ram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090672" y="3858768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B24DS034  ·  DSL251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and Visualization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"Smart franchises don't spend the most — they spend the best."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3726</Words>
  <Application>Microsoft Office PowerPoint</Application>
  <PresentationFormat>On-screen Show (16:9)</PresentationFormat>
  <Paragraphs>279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2025 Auction Strategy &amp; Player Value Analysis</dc:title>
  <dc:subject>PptxGenJS Presentation</dc:subject>
  <dc:creator>Saketh Ram B24DS034</dc:creator>
  <cp:lastModifiedBy>Saketh Ram</cp:lastModifiedBy>
  <cp:revision>33</cp:revision>
  <dcterms:created xsi:type="dcterms:W3CDTF">2026-04-26T15:50:11Z</dcterms:created>
  <dcterms:modified xsi:type="dcterms:W3CDTF">2026-04-27T05:07:55Z</dcterms:modified>
</cp:coreProperties>
</file>