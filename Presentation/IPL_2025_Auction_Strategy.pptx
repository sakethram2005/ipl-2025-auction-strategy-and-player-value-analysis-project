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image" Target="../media/image48.jpg"/><Relationship Id="rId4" Type="http://schemas.openxmlformats.org/officeDocument/2006/relationships/image" Target="../media/image4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10058400" cy="822960"/>
          </a:xfrm>
          <a:prstGeom prst="rect">
            <a:avLst/>
          </a:prstGeom>
          <a:noFill/>
        </p:spPr>
        <p:txBody>
          <a:bodyPr wrap="square">
            <a:spAutoFit/>
          </a:bodyPr>
          <a:lstStyle/>
          <a:p>
            <a:pPr algn="l"/>
            <a:r>
              <a:rPr sz="5200" b="1" i="0">
                <a:solidFill>
                  <a:srgbClr val="FFA500"/>
                </a:solidFill>
              </a:rPr>
              <a:t>IPL 2025</a:t>
            </a:r>
          </a:p>
        </p:txBody>
      </p:sp>
      <p:sp>
        <p:nvSpPr>
          <p:cNvPr id="6" name="TextBox 5"/>
          <p:cNvSpPr txBox="1"/>
          <p:nvPr/>
        </p:nvSpPr>
        <p:spPr>
          <a:xfrm>
            <a:off x="914400" y="1920240"/>
            <a:ext cx="10058400" cy="1463040"/>
          </a:xfrm>
          <a:prstGeom prst="rect">
            <a:avLst/>
          </a:prstGeom>
          <a:noFill/>
        </p:spPr>
        <p:txBody>
          <a:bodyPr wrap="square">
            <a:spAutoFit/>
          </a:bodyPr>
          <a:lstStyle/>
          <a:p>
            <a:pPr algn="l"/>
            <a:r>
              <a:rPr sz="3600" b="1" i="0">
                <a:solidFill>
                  <a:srgbClr val="FFFFFF"/>
                </a:solidFill>
              </a:rPr>
              <a:t>AUCTION STRATEGY &amp;
PLAYER VALUE ANALYSIS</a:t>
            </a:r>
          </a:p>
        </p:txBody>
      </p:sp>
      <p:sp>
        <p:nvSpPr>
          <p:cNvPr id="7" name="TextBox 6"/>
          <p:cNvSpPr txBox="1"/>
          <p:nvPr/>
        </p:nvSpPr>
        <p:spPr>
          <a:xfrm>
            <a:off x="914400" y="3520440"/>
            <a:ext cx="10058400" cy="548640"/>
          </a:xfrm>
          <a:prstGeom prst="rect">
            <a:avLst/>
          </a:prstGeom>
          <a:noFill/>
        </p:spPr>
        <p:txBody>
          <a:bodyPr wrap="square">
            <a:spAutoFit/>
          </a:bodyPr>
          <a:lstStyle/>
          <a:p>
            <a:pPr algn="l"/>
            <a:r>
              <a:rPr sz="1600" b="0" i="1">
                <a:solidFill>
                  <a:srgbClr val="CCD6E0"/>
                </a:solidFill>
              </a:rPr>
              <a:t>A data-driven story of price, performance, and untapped value</a:t>
            </a:r>
          </a:p>
        </p:txBody>
      </p:sp>
      <p:sp>
        <p:nvSpPr>
          <p:cNvPr id="8" name="TextBox 7"/>
          <p:cNvSpPr txBox="1"/>
          <p:nvPr/>
        </p:nvSpPr>
        <p:spPr>
          <a:xfrm>
            <a:off x="914400" y="4206240"/>
            <a:ext cx="10058400" cy="365760"/>
          </a:xfrm>
          <a:prstGeom prst="rect">
            <a:avLst/>
          </a:prstGeom>
          <a:noFill/>
        </p:spPr>
        <p:txBody>
          <a:bodyPr wrap="square">
            <a:spAutoFit/>
          </a:bodyPr>
          <a:lstStyle/>
          <a:p>
            <a:pPr algn="l"/>
            <a:r>
              <a:rPr sz="1100" b="1" i="0">
                <a:solidFill>
                  <a:srgbClr val="FFA500"/>
                </a:solidFill>
              </a:rPr>
              <a:t>Topics Covered</a:t>
            </a:r>
          </a:p>
        </p:txBody>
      </p:sp>
      <p:sp>
        <p:nvSpPr>
          <p:cNvPr id="9" name="TextBox 8"/>
          <p:cNvSpPr txBox="1"/>
          <p:nvPr/>
        </p:nvSpPr>
        <p:spPr>
          <a:xfrm>
            <a:off x="914400" y="4617720"/>
            <a:ext cx="10058400" cy="822960"/>
          </a:xfrm>
          <a:prstGeom prst="rect">
            <a:avLst/>
          </a:prstGeom>
          <a:noFill/>
        </p:spPr>
        <p:txBody>
          <a:bodyPr wrap="square">
            <a:spAutoFit/>
          </a:bodyPr>
          <a:lstStyle/>
          <a:p>
            <a:pPr algn="l"/>
            <a:r>
              <a:rPr sz="1200" b="0" i="0">
                <a:solidFill>
                  <a:srgbClr val="CCD6E0"/>
                </a:solidFill>
              </a:rPr>
              <a:t>League Overview  ·  Toss &amp; Phase Dynamics  ·  Team Performance  ·  Batting &amp; Bowling EDA
Auction Pricing  ·  Venue &amp; Pitch Analysis  ·  Home Advantage  ·  Value Quadrants  ·  Key Findings</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1  ·  THE LEAGUE LANDSCAPE</a:t>
            </a:r>
          </a:p>
        </p:txBody>
      </p:sp>
      <p:sp>
        <p:nvSpPr>
          <p:cNvPr id="5" name="TextBox 4"/>
          <p:cNvSpPr txBox="1"/>
          <p:nvPr/>
        </p:nvSpPr>
        <p:spPr>
          <a:xfrm>
            <a:off x="365760" y="182880"/>
            <a:ext cx="8229600" cy="502920"/>
          </a:xfrm>
          <a:prstGeom prst="rect">
            <a:avLst/>
          </a:prstGeom>
          <a:noFill/>
        </p:spPr>
        <p:txBody>
          <a:bodyPr wrap="square">
            <a:spAutoFit/>
          </a:bodyPr>
          <a:lstStyle/>
          <a:p>
            <a:pPr algn="l"/>
            <a:r>
              <a:rPr sz="2600" b="1" i="0">
                <a:solidFill>
                  <a:srgbClr val="FFFFFF"/>
                </a:solidFill>
              </a:rPr>
              <a:t>Who Ruled the League Stage?</a:t>
            </a:r>
          </a:p>
        </p:txBody>
      </p:sp>
      <p:sp>
        <p:nvSpPr>
          <p:cNvPr id="6" name="TextBox 5"/>
          <p:cNvSpPr txBox="1"/>
          <p:nvPr/>
        </p:nvSpPr>
        <p:spPr>
          <a:xfrm>
            <a:off x="365760" y="685800"/>
            <a:ext cx="8229600" cy="320040"/>
          </a:xfrm>
          <a:prstGeom prst="rect">
            <a:avLst/>
          </a:prstGeom>
          <a:noFill/>
        </p:spPr>
        <p:txBody>
          <a:bodyPr wrap="square">
            <a:spAutoFit/>
          </a:bodyPr>
          <a:lstStyle/>
          <a:p>
            <a:pPr algn="l"/>
            <a:r>
              <a:rPr sz="1300" b="1" i="0">
                <a:solidFill>
                  <a:srgbClr val="FFA500"/>
                </a:solidFill>
              </a:rPr>
              <a:t>IPL 2025 Team Win % — League Stage</a:t>
            </a:r>
          </a:p>
        </p:txBody>
      </p:sp>
      <p:pic>
        <p:nvPicPr>
          <p:cNvPr id="7" name="Picture 6" descr="EDA_8_0.png"/>
          <p:cNvPicPr>
            <a:picLocks noChangeAspect="1"/>
          </p:cNvPicPr>
          <p:nvPr/>
        </p:nvPicPr>
        <p:blipFill>
          <a:blip r:embed="rId2"/>
          <a:stretch>
            <a:fillRect/>
          </a:stretch>
        </p:blipFill>
        <p:spPr>
          <a:xfrm>
            <a:off x="320040" y="1005840"/>
            <a:ext cx="7132320" cy="5349240"/>
          </a:xfrm>
          <a:prstGeom prst="rect">
            <a:avLst/>
          </a:prstGeom>
        </p:spPr>
      </p:pic>
      <p:sp>
        <p:nvSpPr>
          <p:cNvPr id="8" name="Rectangle 7"/>
          <p:cNvSpPr/>
          <p:nvPr/>
        </p:nvSpPr>
        <p:spPr>
          <a:xfrm>
            <a:off x="7680960" y="1005840"/>
            <a:ext cx="420624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097280"/>
            <a:ext cx="3931920" cy="365760"/>
          </a:xfrm>
          <a:prstGeom prst="rect">
            <a:avLst/>
          </a:prstGeom>
          <a:noFill/>
        </p:spPr>
        <p:txBody>
          <a:bodyPr wrap="square">
            <a:spAutoFit/>
          </a:bodyPr>
          <a:lstStyle/>
          <a:p>
            <a:pPr algn="l"/>
            <a:r>
              <a:rPr sz="1200" b="1" i="0">
                <a:solidFill>
                  <a:srgbClr val="FFA500"/>
                </a:solidFill>
              </a:rPr>
              <a:t>📊  Interpretation</a:t>
            </a:r>
          </a:p>
        </p:txBody>
      </p:sp>
      <p:sp>
        <p:nvSpPr>
          <p:cNvPr id="10" name="TextBox 9"/>
          <p:cNvSpPr txBox="1"/>
          <p:nvPr/>
        </p:nvSpPr>
        <p:spPr>
          <a:xfrm>
            <a:off x="7818120" y="1508760"/>
            <a:ext cx="3931920" cy="4663440"/>
          </a:xfrm>
          <a:prstGeom prst="rect">
            <a:avLst/>
          </a:prstGeom>
          <a:noFill/>
        </p:spPr>
        <p:txBody>
          <a:bodyPr wrap="square">
            <a:spAutoFit/>
          </a:bodyPr>
          <a:lstStyle/>
          <a:p>
            <a:pPr algn="l"/>
            <a:r>
              <a:rPr sz="1100" b="0" i="0">
                <a:solidFill>
                  <a:srgbClr val="CCD6E0"/>
                </a:solidFill>
              </a:rPr>
              <a:t>PBKS and RCB jointly topped the league with a 69.2% win rate — the highest across all 10 teams.
GT came in third at 64.3%, followed by MI at 57.1%, confirming the mid-table was competitive.
Defending champions KKR (41.7%), RR (28.6%), and CSK (28.6%) had disappointing campaigns, suggesting a poor translation of auction spending into results.
The top-4 cutoff of 50% means only 5 teams consistently won more than they lost.</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1  ·  THE LEAGUE LANDSCAPE</a:t>
            </a:r>
          </a:p>
        </p:txBody>
      </p:sp>
      <p:sp>
        <p:nvSpPr>
          <p:cNvPr id="4" name="TextBox 3"/>
          <p:cNvSpPr txBox="1"/>
          <p:nvPr/>
        </p:nvSpPr>
        <p:spPr>
          <a:xfrm>
            <a:off x="365760" y="182880"/>
            <a:ext cx="8229600" cy="502920"/>
          </a:xfrm>
          <a:prstGeom prst="rect">
            <a:avLst/>
          </a:prstGeom>
          <a:noFill/>
        </p:spPr>
        <p:txBody>
          <a:bodyPr wrap="square">
            <a:spAutoFit/>
          </a:bodyPr>
          <a:lstStyle/>
          <a:p>
            <a:pPr algn="l"/>
            <a:r>
              <a:rPr sz="2600" b="1" i="0">
                <a:solidFill>
                  <a:srgbClr val="FFFFFF"/>
                </a:solidFill>
              </a:rPr>
              <a:t>Does Winning the Toss Matter?</a:t>
            </a:r>
          </a:p>
        </p:txBody>
      </p:sp>
      <p:sp>
        <p:nvSpPr>
          <p:cNvPr id="5" name="TextBox 4"/>
          <p:cNvSpPr txBox="1"/>
          <p:nvPr/>
        </p:nvSpPr>
        <p:spPr>
          <a:xfrm>
            <a:off x="365760" y="685800"/>
            <a:ext cx="8229600" cy="320040"/>
          </a:xfrm>
          <a:prstGeom prst="rect">
            <a:avLst/>
          </a:prstGeom>
          <a:noFill/>
        </p:spPr>
        <p:txBody>
          <a:bodyPr wrap="square">
            <a:spAutoFit/>
          </a:bodyPr>
          <a:lstStyle/>
          <a:p>
            <a:pPr algn="l"/>
            <a:r>
              <a:rPr sz="1300" b="1" i="0">
                <a:solidFill>
                  <a:srgbClr val="FFA500"/>
                </a:solidFill>
              </a:rPr>
              <a:t>Toss Decision Trends &amp; Win Rates</a:t>
            </a:r>
          </a:p>
        </p:txBody>
      </p:sp>
      <p:pic>
        <p:nvPicPr>
          <p:cNvPr id="6" name="Picture 5" descr="EDA_11_3.png"/>
          <p:cNvPicPr>
            <a:picLocks noChangeAspect="1"/>
          </p:cNvPicPr>
          <p:nvPr/>
        </p:nvPicPr>
        <p:blipFill>
          <a:blip r:embed="rId2"/>
          <a:stretch>
            <a:fillRect/>
          </a:stretch>
        </p:blipFill>
        <p:spPr>
          <a:xfrm>
            <a:off x="274320" y="960120"/>
            <a:ext cx="7772400" cy="4937760"/>
          </a:xfrm>
          <a:prstGeom prst="rect">
            <a:avLst/>
          </a:prstGeom>
        </p:spPr>
      </p:pic>
      <p:sp>
        <p:nvSpPr>
          <p:cNvPr id="7" name="Rectangle 6"/>
          <p:cNvSpPr/>
          <p:nvPr/>
        </p:nvSpPr>
        <p:spPr>
          <a:xfrm>
            <a:off x="8229600" y="1005840"/>
            <a:ext cx="365760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097280"/>
            <a:ext cx="3383280" cy="365760"/>
          </a:xfrm>
          <a:prstGeom prst="rect">
            <a:avLst/>
          </a:prstGeom>
          <a:noFill/>
        </p:spPr>
        <p:txBody>
          <a:bodyPr wrap="square">
            <a:spAutoFit/>
          </a:bodyPr>
          <a:lstStyle/>
          <a:p>
            <a:pPr algn="l"/>
            <a:r>
              <a:rPr sz="1200" b="1" i="0">
                <a:solidFill>
                  <a:srgbClr val="FFA500"/>
                </a:solidFill>
              </a:rPr>
              <a:t>📊  Interpretation</a:t>
            </a:r>
          </a:p>
        </p:txBody>
      </p:sp>
      <p:sp>
        <p:nvSpPr>
          <p:cNvPr id="9" name="TextBox 8"/>
          <p:cNvSpPr txBox="1"/>
          <p:nvPr/>
        </p:nvSpPr>
        <p:spPr>
          <a:xfrm>
            <a:off x="8366760" y="1508760"/>
            <a:ext cx="3383280" cy="4663440"/>
          </a:xfrm>
          <a:prstGeom prst="rect">
            <a:avLst/>
          </a:prstGeom>
          <a:noFill/>
        </p:spPr>
        <p:txBody>
          <a:bodyPr wrap="square">
            <a:spAutoFit/>
          </a:bodyPr>
          <a:lstStyle/>
          <a:p>
            <a:pPr algn="l"/>
            <a:r>
              <a:rPr sz="1100" b="0" i="0">
                <a:solidFill>
                  <a:srgbClr val="CCD6E0"/>
                </a:solidFill>
              </a:rPr>
              <a:t>A massive 81.1% of teams chose to field first after winning the toss, confirming that chasing is overwhelmingly preferred in T20 cricket.
However, neither strategy delivers a decisive advantage — teams choosing to bat won only 21.4% of the time, while those choosing to field won 31.7%.
Both figures are well below the 50% coin-flip baseline, suggesting that toss decisions alone don't determine outcomes — team composition and execution matter far more.</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2  ·  PHASES OF THE GAME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Powerplay vs Death: Run Rate &amp; Wickets</a:t>
            </a:r>
          </a:p>
        </p:txBody>
      </p:sp>
      <p:sp>
        <p:nvSpPr>
          <p:cNvPr id="5" name="TextBox 4"/>
          <p:cNvSpPr txBox="1"/>
          <p:nvPr/>
        </p:nvSpPr>
        <p:spPr>
          <a:xfrm>
            <a:off x="365760" y="713232"/>
            <a:ext cx="8229600" cy="320040"/>
          </a:xfrm>
          <a:prstGeom prst="rect">
            <a:avLst/>
          </a:prstGeom>
          <a:noFill/>
        </p:spPr>
        <p:txBody>
          <a:bodyPr wrap="square">
            <a:spAutoFit/>
          </a:bodyPr>
          <a:lstStyle/>
          <a:p>
            <a:pPr algn="l"/>
            <a:r>
              <a:rPr sz="1300" b="1" i="0">
                <a:solidFill>
                  <a:srgbClr val="FFA500"/>
                </a:solidFill>
              </a:rPr>
              <a:t>How the game's momentum shifts over 20 overs</a:t>
            </a:r>
          </a:p>
        </p:txBody>
      </p:sp>
      <p:pic>
        <p:nvPicPr>
          <p:cNvPr id="6" name="Picture 5" descr="EDA_9_1.png"/>
          <p:cNvPicPr>
            <a:picLocks noChangeAspect="1"/>
          </p:cNvPicPr>
          <p:nvPr/>
        </p:nvPicPr>
        <p:blipFill>
          <a:blip r:embed="rId2"/>
          <a:stretch>
            <a:fillRect/>
          </a:stretch>
        </p:blipFill>
        <p:spPr>
          <a:xfrm>
            <a:off x="274320" y="1005840"/>
            <a:ext cx="5029200" cy="3657600"/>
          </a:xfrm>
          <a:prstGeom prst="rect">
            <a:avLst/>
          </a:prstGeom>
        </p:spPr>
      </p:pic>
      <p:pic>
        <p:nvPicPr>
          <p:cNvPr id="7" name="Picture 6" descr="EDA_10_2.png"/>
          <p:cNvPicPr>
            <a:picLocks noChangeAspect="1"/>
          </p:cNvPicPr>
          <p:nvPr/>
        </p:nvPicPr>
        <p:blipFill>
          <a:blip r:embed="rId3"/>
          <a:stretch>
            <a:fillRect/>
          </a:stretch>
        </p:blipFill>
        <p:spPr>
          <a:xfrm>
            <a:off x="5486400" y="1005840"/>
            <a:ext cx="5029200" cy="3657600"/>
          </a:xfrm>
          <a:prstGeom prst="rect">
            <a:avLst/>
          </a:prstGeom>
        </p:spPr>
      </p:pic>
      <p:sp>
        <p:nvSpPr>
          <p:cNvPr id="8" name="Rectangle 7"/>
          <p:cNvSpPr/>
          <p:nvPr/>
        </p:nvSpPr>
        <p:spPr>
          <a:xfrm>
            <a:off x="274320" y="4754880"/>
            <a:ext cx="11430000" cy="196596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10972800" cy="320040"/>
          </a:xfrm>
          <a:prstGeom prst="rect">
            <a:avLst/>
          </a:prstGeom>
          <a:noFill/>
        </p:spPr>
        <p:txBody>
          <a:bodyPr wrap="square">
            <a:spAutoFit/>
          </a:bodyPr>
          <a:lstStyle/>
          <a:p>
            <a:pPr algn="l"/>
            <a:r>
              <a:rPr sz="1200" b="1" i="0">
                <a:solidFill>
                  <a:srgbClr val="FFA500"/>
                </a:solidFill>
              </a:rPr>
              <a:t>📊  Interpretation</a:t>
            </a:r>
          </a:p>
        </p:txBody>
      </p:sp>
      <p:sp>
        <p:nvSpPr>
          <p:cNvPr id="10" name="TextBox 9"/>
          <p:cNvSpPr txBox="1"/>
          <p:nvPr/>
        </p:nvSpPr>
        <p:spPr>
          <a:xfrm>
            <a:off x="457200" y="5212080"/>
            <a:ext cx="11247120" cy="1371600"/>
          </a:xfrm>
          <a:prstGeom prst="rect">
            <a:avLst/>
          </a:prstGeom>
          <a:noFill/>
        </p:spPr>
        <p:txBody>
          <a:bodyPr wrap="square">
            <a:spAutoFit/>
          </a:bodyPr>
          <a:lstStyle/>
          <a:p>
            <a:pPr algn="l"/>
            <a:r>
              <a:rPr sz="1100" b="0" i="0">
                <a:solidFill>
                  <a:srgbClr val="CCD6E0"/>
                </a:solidFill>
              </a:rPr>
              <a:t>Death overs (overs 16–20) produce a significantly higher run rate than Powerplay (overs 1–6), reflecting the aggressive hitting mindset late in an innings. The wickets chart reinforces this — while death overs see more wickets fall in absolute terms, the balls-per-wicket (dotted line) is actually lower in Powerplay, meaning bowlers strike more frequently per ball during the first 6 overs. This highlights the critical dual value of Powerplay bowlers: they must restrict runs AND take early wickets to derail top orders.</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2  ·  PHASES OF THE GAME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How Wickets Fall &amp; Extra Costs</a:t>
            </a:r>
          </a:p>
        </p:txBody>
      </p:sp>
      <p:pic>
        <p:nvPicPr>
          <p:cNvPr id="5" name="Picture 4" descr="EDA_12_4.png"/>
          <p:cNvPicPr>
            <a:picLocks noChangeAspect="1"/>
          </p:cNvPicPr>
          <p:nvPr/>
        </p:nvPicPr>
        <p:blipFill>
          <a:blip r:embed="rId2"/>
          <a:stretch>
            <a:fillRect/>
          </a:stretch>
        </p:blipFill>
        <p:spPr>
          <a:xfrm>
            <a:off x="274320" y="777240"/>
            <a:ext cx="5943600" cy="5029200"/>
          </a:xfrm>
          <a:prstGeom prst="rect">
            <a:avLst/>
          </a:prstGeom>
        </p:spPr>
      </p:pic>
      <p:pic>
        <p:nvPicPr>
          <p:cNvPr id="6" name="Picture 5" descr="EDA_13_5.png"/>
          <p:cNvPicPr>
            <a:picLocks noChangeAspect="1"/>
          </p:cNvPicPr>
          <p:nvPr/>
        </p:nvPicPr>
        <p:blipFill>
          <a:blip r:embed="rId3"/>
          <a:stretch>
            <a:fillRect/>
          </a:stretch>
        </p:blipFill>
        <p:spPr>
          <a:xfrm>
            <a:off x="6400800" y="914400"/>
            <a:ext cx="5029200" cy="4389120"/>
          </a:xfrm>
          <a:prstGeom prst="rect">
            <a:avLst/>
          </a:prstGeom>
        </p:spPr>
      </p:pic>
      <p:sp>
        <p:nvSpPr>
          <p:cNvPr id="7" name="Rectangle 6"/>
          <p:cNvSpPr/>
          <p:nvPr/>
        </p:nvSpPr>
        <p:spPr>
          <a:xfrm>
            <a:off x="274320" y="5852160"/>
            <a:ext cx="11430000" cy="9144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925312"/>
            <a:ext cx="10972800" cy="27432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6199632"/>
            <a:ext cx="11247120" cy="548640"/>
          </a:xfrm>
          <a:prstGeom prst="rect">
            <a:avLst/>
          </a:prstGeom>
          <a:noFill/>
        </p:spPr>
        <p:txBody>
          <a:bodyPr wrap="square">
            <a:spAutoFit/>
          </a:bodyPr>
          <a:lstStyle/>
          <a:p>
            <a:pPr algn="l"/>
            <a:r>
              <a:rPr sz="1050" b="0" i="0">
                <a:solidFill>
                  <a:srgbClr val="CCD6E0"/>
                </a:solidFill>
              </a:rPr>
              <a:t>Caught is the most dominant dismissal mode, followed by bowled and LBW — reinforcing the importance of wicket-taking bowlers over economy-focused ones. On the extras front, wides dominate, creating easy scoring opportunities for batters. Controlling wides is a simple but high-impact bowling discipline metric.</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a:t>
            </a:r>
          </a:p>
        </p:txBody>
      </p:sp>
      <p:sp>
        <p:nvSpPr>
          <p:cNvPr id="4" name="TextBox 3"/>
          <p:cNvSpPr txBox="1"/>
          <p:nvPr/>
        </p:nvSpPr>
        <p:spPr>
          <a:xfrm>
            <a:off x="365760" y="182880"/>
            <a:ext cx="8229600" cy="502920"/>
          </a:xfrm>
          <a:prstGeom prst="rect">
            <a:avLst/>
          </a:prstGeom>
          <a:noFill/>
        </p:spPr>
        <p:txBody>
          <a:bodyPr wrap="square">
            <a:spAutoFit/>
          </a:bodyPr>
          <a:lstStyle/>
          <a:p>
            <a:pPr algn="l"/>
            <a:r>
              <a:rPr sz="2600" b="1" i="0">
                <a:solidFill>
                  <a:srgbClr val="FFFFFF"/>
                </a:solidFill>
              </a:rPr>
              <a:t>Top Run Scorers of IPL 2025</a:t>
            </a:r>
          </a:p>
        </p:txBody>
      </p:sp>
      <p:sp>
        <p:nvSpPr>
          <p:cNvPr id="5" name="TextBox 4"/>
          <p:cNvSpPr txBox="1"/>
          <p:nvPr/>
        </p:nvSpPr>
        <p:spPr>
          <a:xfrm>
            <a:off x="365760" y="694944"/>
            <a:ext cx="8229600" cy="320040"/>
          </a:xfrm>
          <a:prstGeom prst="rect">
            <a:avLst/>
          </a:prstGeom>
          <a:noFill/>
        </p:spPr>
        <p:txBody>
          <a:bodyPr wrap="square">
            <a:spAutoFit/>
          </a:bodyPr>
          <a:lstStyle/>
          <a:p>
            <a:pPr algn="l"/>
            <a:r>
              <a:rPr sz="1300" b="1" i="0">
                <a:solidFill>
                  <a:srgbClr val="FFA500"/>
                </a:solidFill>
              </a:rPr>
              <a:t>Top 10 run-getters colored by team</a:t>
            </a:r>
          </a:p>
        </p:txBody>
      </p:sp>
      <p:pic>
        <p:nvPicPr>
          <p:cNvPr id="6" name="Picture 5" descr="EDA_14_6.png"/>
          <p:cNvPicPr>
            <a:picLocks noChangeAspect="1"/>
          </p:cNvPicPr>
          <p:nvPr/>
        </p:nvPicPr>
        <p:blipFill>
          <a:blip r:embed="rId2"/>
          <a:stretch>
            <a:fillRect/>
          </a:stretch>
        </p:blipFill>
        <p:spPr>
          <a:xfrm>
            <a:off x="274320" y="960120"/>
            <a:ext cx="7315200" cy="5349240"/>
          </a:xfrm>
          <a:prstGeom prst="rect">
            <a:avLst/>
          </a:prstGeom>
        </p:spPr>
      </p:pic>
      <p:sp>
        <p:nvSpPr>
          <p:cNvPr id="7" name="Rectangle 6"/>
          <p:cNvSpPr/>
          <p:nvPr/>
        </p:nvSpPr>
        <p:spPr>
          <a:xfrm>
            <a:off x="7863840" y="1005840"/>
            <a:ext cx="402336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097280"/>
            <a:ext cx="3749039" cy="365760"/>
          </a:xfrm>
          <a:prstGeom prst="rect">
            <a:avLst/>
          </a:prstGeom>
          <a:noFill/>
        </p:spPr>
        <p:txBody>
          <a:bodyPr wrap="square">
            <a:spAutoFit/>
          </a:bodyPr>
          <a:lstStyle/>
          <a:p>
            <a:pPr algn="l"/>
            <a:r>
              <a:rPr sz="1200" b="1" i="0">
                <a:solidFill>
                  <a:srgbClr val="FFA500"/>
                </a:solidFill>
              </a:rPr>
              <a:t>📊  Interpretation</a:t>
            </a:r>
          </a:p>
        </p:txBody>
      </p:sp>
      <p:sp>
        <p:nvSpPr>
          <p:cNvPr id="9" name="TextBox 8"/>
          <p:cNvSpPr txBox="1"/>
          <p:nvPr/>
        </p:nvSpPr>
        <p:spPr>
          <a:xfrm>
            <a:off x="8001000" y="1508760"/>
            <a:ext cx="3749039" cy="4663440"/>
          </a:xfrm>
          <a:prstGeom prst="rect">
            <a:avLst/>
          </a:prstGeom>
          <a:noFill/>
        </p:spPr>
        <p:txBody>
          <a:bodyPr wrap="square">
            <a:spAutoFit/>
          </a:bodyPr>
          <a:lstStyle/>
          <a:p>
            <a:pPr algn="l"/>
            <a:r>
              <a:rPr sz="1100" b="0" i="0">
                <a:solidFill>
                  <a:srgbClr val="CCD6E0"/>
                </a:solidFill>
              </a:rPr>
              <a:t>The top run-scorers list spans multiple teams, showing IPL 2025 had well-distributed batting talent.
Bar widths indicate total runs while colour-coding reveals team identity — no single franchise monopolised the batting charts.
Notably, high-ticket retained players appear alongside cheaper or newly auctioned ones, hinting that expensive acquisitions didn't always outperform budget picks.
Price labels on bars offer the first visual clue towards value analysis.</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Batting Average vs Strike Rate</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Do expensive batters actually perform better? Bubble size = runs scored, colour = price</a:t>
            </a:r>
          </a:p>
        </p:txBody>
      </p:sp>
      <p:pic>
        <p:nvPicPr>
          <p:cNvPr id="6" name="Picture 5" descr="EDA_15_7.png"/>
          <p:cNvPicPr>
            <a:picLocks noChangeAspect="1"/>
          </p:cNvPicPr>
          <p:nvPr/>
        </p:nvPicPr>
        <p:blipFill>
          <a:blip r:embed="rId2"/>
          <a:stretch>
            <a:fillRect/>
          </a:stretch>
        </p:blipFill>
        <p:spPr>
          <a:xfrm>
            <a:off x="274320" y="960120"/>
            <a:ext cx="6858000" cy="5349240"/>
          </a:xfrm>
          <a:prstGeom prst="rect">
            <a:avLst/>
          </a:prstGeom>
        </p:spPr>
      </p:pic>
      <p:sp>
        <p:nvSpPr>
          <p:cNvPr id="7" name="Rectangle 6"/>
          <p:cNvSpPr/>
          <p:nvPr/>
        </p:nvSpPr>
        <p:spPr>
          <a:xfrm>
            <a:off x="7406640" y="1005840"/>
            <a:ext cx="448056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097280"/>
            <a:ext cx="4114800" cy="365760"/>
          </a:xfrm>
          <a:prstGeom prst="rect">
            <a:avLst/>
          </a:prstGeom>
          <a:noFill/>
        </p:spPr>
        <p:txBody>
          <a:bodyPr wrap="square">
            <a:spAutoFit/>
          </a:bodyPr>
          <a:lstStyle/>
          <a:p>
            <a:pPr algn="l"/>
            <a:r>
              <a:rPr sz="1200" b="1" i="0">
                <a:solidFill>
                  <a:srgbClr val="FFA500"/>
                </a:solidFill>
              </a:rPr>
              <a:t>📊  Interpretation</a:t>
            </a:r>
          </a:p>
        </p:txBody>
      </p:sp>
      <p:sp>
        <p:nvSpPr>
          <p:cNvPr id="9" name="TextBox 8"/>
          <p:cNvSpPr txBox="1"/>
          <p:nvPr/>
        </p:nvSpPr>
        <p:spPr>
          <a:xfrm>
            <a:off x="7543800" y="1508760"/>
            <a:ext cx="4114800" cy="4663440"/>
          </a:xfrm>
          <a:prstGeom prst="rect">
            <a:avLst/>
          </a:prstGeom>
          <a:noFill/>
        </p:spPr>
        <p:txBody>
          <a:bodyPr wrap="square">
            <a:spAutoFit/>
          </a:bodyPr>
          <a:lstStyle/>
          <a:p>
            <a:pPr algn="l"/>
            <a:r>
              <a:rPr sz="1100" b="0" i="0">
                <a:solidFill>
                  <a:srgbClr val="CCD6E0"/>
                </a:solidFill>
              </a:rPr>
              <a:t>The scatter is divided by dotted crosshair lines at the mean Average and mean Strike Rate — creating four quadrants.
Top-Right (ideal): High Avg + High SR — the rarest and most desirable batters.
Bottom-Left: Low avg, low SR — consistent underperformers.
The colour gradient (YlOrRd = price) reveals a key finding: several low-price players sit in the top-right quadrant, confirming significant undervaluation in the market.
Large expensive bubbles appear scattered across all quadrants — money did not reliably buy elite batting performance.</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Phase-Specific Batting by Team</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Powerplay (left) and Death Overs (right) run rates — which teams exploit each phase?</a:t>
            </a:r>
          </a:p>
        </p:txBody>
      </p:sp>
      <p:pic>
        <p:nvPicPr>
          <p:cNvPr id="6" name="Picture 5" descr="EDA_16_8.png"/>
          <p:cNvPicPr>
            <a:picLocks noChangeAspect="1"/>
          </p:cNvPicPr>
          <p:nvPr/>
        </p:nvPicPr>
        <p:blipFill>
          <a:blip r:embed="rId2"/>
          <a:stretch>
            <a:fillRect/>
          </a:stretch>
        </p:blipFill>
        <p:spPr>
          <a:xfrm>
            <a:off x="274320" y="1005840"/>
            <a:ext cx="5760720" cy="3840480"/>
          </a:xfrm>
          <a:prstGeom prst="rect">
            <a:avLst/>
          </a:prstGeom>
        </p:spPr>
      </p:pic>
      <p:pic>
        <p:nvPicPr>
          <p:cNvPr id="7" name="Picture 6" descr="EDA_18_10.png"/>
          <p:cNvPicPr>
            <a:picLocks noChangeAspect="1"/>
          </p:cNvPicPr>
          <p:nvPr/>
        </p:nvPicPr>
        <p:blipFill>
          <a:blip r:embed="rId3"/>
          <a:stretch>
            <a:fillRect/>
          </a:stretch>
        </p:blipFill>
        <p:spPr>
          <a:xfrm>
            <a:off x="6217920" y="1005840"/>
            <a:ext cx="5760720" cy="3840480"/>
          </a:xfrm>
          <a:prstGeom prst="rect">
            <a:avLst/>
          </a:prstGeom>
        </p:spPr>
      </p:pic>
      <p:sp>
        <p:nvSpPr>
          <p:cNvPr id="8" name="Rectangle 7"/>
          <p:cNvSpPr/>
          <p:nvPr/>
        </p:nvSpPr>
        <p:spPr>
          <a:xfrm>
            <a:off x="274320" y="4937760"/>
            <a:ext cx="11430000" cy="18288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029200"/>
            <a:ext cx="10972800" cy="320040"/>
          </a:xfrm>
          <a:prstGeom prst="rect">
            <a:avLst/>
          </a:prstGeom>
          <a:noFill/>
        </p:spPr>
        <p:txBody>
          <a:bodyPr wrap="square">
            <a:spAutoFit/>
          </a:bodyPr>
          <a:lstStyle/>
          <a:p>
            <a:pPr algn="l"/>
            <a:r>
              <a:rPr sz="1200" b="1" i="0">
                <a:solidFill>
                  <a:srgbClr val="FFA500"/>
                </a:solidFill>
              </a:rPr>
              <a:t>📊  Interpretation</a:t>
            </a:r>
          </a:p>
        </p:txBody>
      </p:sp>
      <p:sp>
        <p:nvSpPr>
          <p:cNvPr id="10" name="TextBox 9"/>
          <p:cNvSpPr txBox="1"/>
          <p:nvPr/>
        </p:nvSpPr>
        <p:spPr>
          <a:xfrm>
            <a:off x="457200" y="5376672"/>
            <a:ext cx="11247120" cy="1280160"/>
          </a:xfrm>
          <a:prstGeom prst="rect">
            <a:avLst/>
          </a:prstGeom>
          <a:noFill/>
        </p:spPr>
        <p:txBody>
          <a:bodyPr wrap="square">
            <a:spAutoFit/>
          </a:bodyPr>
          <a:lstStyle/>
          <a:p>
            <a:pPr algn="l"/>
            <a:r>
              <a:rPr sz="1100" b="0" i="0">
                <a:solidFill>
                  <a:srgbClr val="CCD6E0"/>
                </a:solidFill>
              </a:rPr>
              <a:t>In the Powerplay, certain teams score at significantly higher run rates — revealing which squads have dominant openers. In the Death, the spread is even wider — teams with designated finishers like a powerful No.5 or No.6 clearly outpace others. A team that leads in both phases is almost guaranteed a high total; teams lagging in both face structural batting problems not solved merely by big-name purchases.</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Boundary Habits &amp; Price-Performance Link</a:t>
            </a:r>
          </a:p>
        </p:txBody>
      </p:sp>
      <p:pic>
        <p:nvPicPr>
          <p:cNvPr id="5" name="Picture 4" descr="EDA_19_11.png"/>
          <p:cNvPicPr>
            <a:picLocks noChangeAspect="1"/>
          </p:cNvPicPr>
          <p:nvPr/>
        </p:nvPicPr>
        <p:blipFill>
          <a:blip r:embed="rId2"/>
          <a:stretch>
            <a:fillRect/>
          </a:stretch>
        </p:blipFill>
        <p:spPr>
          <a:xfrm>
            <a:off x="274320" y="822960"/>
            <a:ext cx="5486400" cy="4114800"/>
          </a:xfrm>
          <a:prstGeom prst="rect">
            <a:avLst/>
          </a:prstGeom>
        </p:spPr>
      </p:pic>
      <p:pic>
        <p:nvPicPr>
          <p:cNvPr id="6" name="Picture 5" descr="EDA_17_9.png"/>
          <p:cNvPicPr>
            <a:picLocks noChangeAspect="1"/>
          </p:cNvPicPr>
          <p:nvPr/>
        </p:nvPicPr>
        <p:blipFill>
          <a:blip r:embed="rId3"/>
          <a:stretch>
            <a:fillRect/>
          </a:stretch>
        </p:blipFill>
        <p:spPr>
          <a:xfrm>
            <a:off x="6035040" y="822960"/>
            <a:ext cx="5486400" cy="4114800"/>
          </a:xfrm>
          <a:prstGeom prst="rect">
            <a:avLst/>
          </a:prstGeom>
        </p:spPr>
      </p:pic>
      <p:sp>
        <p:nvSpPr>
          <p:cNvPr id="7" name="Rectangle 6"/>
          <p:cNvSpPr/>
          <p:nvPr/>
        </p:nvSpPr>
        <p:spPr>
          <a:xfrm>
            <a:off x="274320" y="4983480"/>
            <a:ext cx="11430000" cy="178308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074920"/>
            <a:ext cx="10972800" cy="32004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5422392"/>
            <a:ext cx="11247120" cy="1234440"/>
          </a:xfrm>
          <a:prstGeom prst="rect">
            <a:avLst/>
          </a:prstGeom>
          <a:noFill/>
        </p:spPr>
        <p:txBody>
          <a:bodyPr wrap="square">
            <a:spAutoFit/>
          </a:bodyPr>
          <a:lstStyle/>
          <a:p>
            <a:pPr algn="l"/>
            <a:r>
              <a:rPr sz="1100" b="0" i="0">
                <a:solidFill>
                  <a:srgbClr val="CCD6E0"/>
                </a:solidFill>
              </a:rPr>
              <a:t>The boundary % histogram (left) shows most batters hit 35–50% of their runs from boundaries — a healthy norm. Very few exceed 60%, making them explosive match-winners. The price vs runs scatter (right) shows a modest positive correlation (r shown in legend), but the large scatter around the trend line proves that higher price does not reliably predict more runs. Several low-priced players punched well above their valuation — the foundation of our undervalued player finding.</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4  ·  BOWLING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Top Wicket Takers &amp; Bowling Value</a:t>
            </a:r>
          </a:p>
        </p:txBody>
      </p:sp>
      <p:pic>
        <p:nvPicPr>
          <p:cNvPr id="5" name="Picture 4" descr="EDA_20_12.png"/>
          <p:cNvPicPr>
            <a:picLocks noChangeAspect="1"/>
          </p:cNvPicPr>
          <p:nvPr/>
        </p:nvPicPr>
        <p:blipFill>
          <a:blip r:embed="rId2"/>
          <a:stretch>
            <a:fillRect/>
          </a:stretch>
        </p:blipFill>
        <p:spPr>
          <a:xfrm>
            <a:off x="274320" y="822960"/>
            <a:ext cx="5669280" cy="4114800"/>
          </a:xfrm>
          <a:prstGeom prst="rect">
            <a:avLst/>
          </a:prstGeom>
        </p:spPr>
      </p:pic>
      <p:pic>
        <p:nvPicPr>
          <p:cNvPr id="6" name="Picture 5" descr="EDA_21_13.png"/>
          <p:cNvPicPr>
            <a:picLocks noChangeAspect="1"/>
          </p:cNvPicPr>
          <p:nvPr/>
        </p:nvPicPr>
        <p:blipFill>
          <a:blip r:embed="rId3"/>
          <a:stretch>
            <a:fillRect/>
          </a:stretch>
        </p:blipFill>
        <p:spPr>
          <a:xfrm>
            <a:off x="6126480" y="822960"/>
            <a:ext cx="5669280" cy="4114800"/>
          </a:xfrm>
          <a:prstGeom prst="rect">
            <a:avLst/>
          </a:prstGeom>
        </p:spPr>
      </p:pic>
      <p:sp>
        <p:nvSpPr>
          <p:cNvPr id="7" name="Rectangle 6"/>
          <p:cNvSpPr/>
          <p:nvPr/>
        </p:nvSpPr>
        <p:spPr>
          <a:xfrm>
            <a:off x="274320" y="4983480"/>
            <a:ext cx="11430000" cy="178308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074920"/>
            <a:ext cx="10972800" cy="32004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5422392"/>
            <a:ext cx="11247120" cy="1234440"/>
          </a:xfrm>
          <a:prstGeom prst="rect">
            <a:avLst/>
          </a:prstGeom>
          <a:noFill/>
        </p:spPr>
        <p:txBody>
          <a:bodyPr wrap="square">
            <a:spAutoFit/>
          </a:bodyPr>
          <a:lstStyle/>
          <a:p>
            <a:pPr algn="l"/>
            <a:r>
              <a:rPr sz="1100" b="0" i="0">
                <a:solidFill>
                  <a:srgbClr val="CCD6E0"/>
                </a:solidFill>
              </a:rPr>
              <a:t>The top wicket-takers chart reveals which bowlers dominated the season across teams. The Econ vs Bowling Average scatter (right) — sized by wickets and coloured by price — is key to value detection. Bottom-left quadrant (low avg, low economy) represents the ideal: expensive to score off AND gets wickets. Notably, several high-priced bowlers appear in suboptimal quadrants, confirming overpayment for reputation over current-season form.</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4  ·  BOWLING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Phase-Specific Bowling by Team</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Powerplay economy (left) and Death overs economy (right) — lower = better</a:t>
            </a:r>
          </a:p>
        </p:txBody>
      </p:sp>
      <p:pic>
        <p:nvPicPr>
          <p:cNvPr id="6" name="Picture 5" descr="EDA_24_16.png"/>
          <p:cNvPicPr>
            <a:picLocks noChangeAspect="1"/>
          </p:cNvPicPr>
          <p:nvPr/>
        </p:nvPicPr>
        <p:blipFill>
          <a:blip r:embed="rId2"/>
          <a:stretch>
            <a:fillRect/>
          </a:stretch>
        </p:blipFill>
        <p:spPr>
          <a:xfrm>
            <a:off x="274320" y="1005840"/>
            <a:ext cx="5760720" cy="3840480"/>
          </a:xfrm>
          <a:prstGeom prst="rect">
            <a:avLst/>
          </a:prstGeom>
        </p:spPr>
      </p:pic>
      <p:pic>
        <p:nvPicPr>
          <p:cNvPr id="7" name="Picture 6" descr="EDA_22_14.png"/>
          <p:cNvPicPr>
            <a:picLocks noChangeAspect="1"/>
          </p:cNvPicPr>
          <p:nvPr/>
        </p:nvPicPr>
        <p:blipFill>
          <a:blip r:embed="rId3"/>
          <a:stretch>
            <a:fillRect/>
          </a:stretch>
        </p:blipFill>
        <p:spPr>
          <a:xfrm>
            <a:off x="6217920" y="1005840"/>
            <a:ext cx="5760720" cy="3840480"/>
          </a:xfrm>
          <a:prstGeom prst="rect">
            <a:avLst/>
          </a:prstGeom>
        </p:spPr>
      </p:pic>
      <p:sp>
        <p:nvSpPr>
          <p:cNvPr id="8" name="Rectangle 7"/>
          <p:cNvSpPr/>
          <p:nvPr/>
        </p:nvSpPr>
        <p:spPr>
          <a:xfrm>
            <a:off x="274320" y="4937760"/>
            <a:ext cx="11430000" cy="18288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029200"/>
            <a:ext cx="10972800" cy="320040"/>
          </a:xfrm>
          <a:prstGeom prst="rect">
            <a:avLst/>
          </a:prstGeom>
          <a:noFill/>
        </p:spPr>
        <p:txBody>
          <a:bodyPr wrap="square">
            <a:spAutoFit/>
          </a:bodyPr>
          <a:lstStyle/>
          <a:p>
            <a:pPr algn="l"/>
            <a:r>
              <a:rPr sz="1200" b="1" i="0">
                <a:solidFill>
                  <a:srgbClr val="FFA500"/>
                </a:solidFill>
              </a:rPr>
              <a:t>📊  Interpretation</a:t>
            </a:r>
          </a:p>
        </p:txBody>
      </p:sp>
      <p:sp>
        <p:nvSpPr>
          <p:cNvPr id="10" name="TextBox 9"/>
          <p:cNvSpPr txBox="1"/>
          <p:nvPr/>
        </p:nvSpPr>
        <p:spPr>
          <a:xfrm>
            <a:off x="457200" y="5376672"/>
            <a:ext cx="11247120" cy="1280160"/>
          </a:xfrm>
          <a:prstGeom prst="rect">
            <a:avLst/>
          </a:prstGeom>
          <a:noFill/>
        </p:spPr>
        <p:txBody>
          <a:bodyPr wrap="square">
            <a:spAutoFit/>
          </a:bodyPr>
          <a:lstStyle/>
          <a:p>
            <a:pPr algn="l"/>
            <a:r>
              <a:rPr sz="1100" b="0" i="0">
                <a:solidFill>
                  <a:srgbClr val="CCD6E0"/>
                </a:solidFill>
              </a:rPr>
              <a:t>Powerplay economy reveals which bowling attacks throttle the opposition early — key in setting up match-winning positions. Death bowling economy (16–20) shows which teams buckle under pressure vs those with specialist death bowlers. Teams performing well in both phases tend to correlate with higher win rates in the league standings, highlighting that bowling unit cohesion matters more than individual superstars.</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4  ·  BOWLING DEEP DIVE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Best Bowling Figures &amp; Price vs Wickets</a:t>
            </a:r>
          </a:p>
        </p:txBody>
      </p:sp>
      <p:pic>
        <p:nvPicPr>
          <p:cNvPr id="5" name="Picture 4" descr="EDA_25_17.png"/>
          <p:cNvPicPr>
            <a:picLocks noChangeAspect="1"/>
          </p:cNvPicPr>
          <p:nvPr/>
        </p:nvPicPr>
        <p:blipFill>
          <a:blip r:embed="rId2"/>
          <a:stretch>
            <a:fillRect/>
          </a:stretch>
        </p:blipFill>
        <p:spPr>
          <a:xfrm>
            <a:off x="274320" y="822960"/>
            <a:ext cx="5486400" cy="3931920"/>
          </a:xfrm>
          <a:prstGeom prst="rect">
            <a:avLst/>
          </a:prstGeom>
        </p:spPr>
      </p:pic>
      <p:pic>
        <p:nvPicPr>
          <p:cNvPr id="6" name="Picture 5" descr="EDA_23_15.png"/>
          <p:cNvPicPr>
            <a:picLocks noChangeAspect="1"/>
          </p:cNvPicPr>
          <p:nvPr/>
        </p:nvPicPr>
        <p:blipFill>
          <a:blip r:embed="rId3"/>
          <a:stretch>
            <a:fillRect/>
          </a:stretch>
        </p:blipFill>
        <p:spPr>
          <a:xfrm>
            <a:off x="6035040" y="822960"/>
            <a:ext cx="5577840" cy="3931920"/>
          </a:xfrm>
          <a:prstGeom prst="rect">
            <a:avLst/>
          </a:prstGeom>
        </p:spPr>
      </p:pic>
      <p:sp>
        <p:nvSpPr>
          <p:cNvPr id="7" name="Rectangle 6"/>
          <p:cNvSpPr/>
          <p:nvPr/>
        </p:nvSpPr>
        <p:spPr>
          <a:xfrm>
            <a:off x="274320" y="4846320"/>
            <a:ext cx="11430000" cy="1920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937760"/>
            <a:ext cx="10972800" cy="32004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5285232"/>
            <a:ext cx="11247120" cy="1325880"/>
          </a:xfrm>
          <a:prstGeom prst="rect">
            <a:avLst/>
          </a:prstGeom>
          <a:noFill/>
        </p:spPr>
        <p:txBody>
          <a:bodyPr wrap="square">
            <a:spAutoFit/>
          </a:bodyPr>
          <a:lstStyle/>
          <a:p>
            <a:pPr algn="l"/>
            <a:r>
              <a:rPr sz="1100" b="0" i="0">
                <a:solidFill>
                  <a:srgbClr val="CCD6E0"/>
                </a:solidFill>
              </a:rPr>
              <a:t>The BBI distribution shows most bowlers recorded hauls of 2–3 wickets in their best match — 4+ wicket hauls are rare, making those bowlers extremely valuable. The Price vs Wickets scatter (right) shows a weak positive correlation — many high-priced bowlers took similar wickets to far cheaper alternatives. This disconnect between price and output is the core finding driving the overvalued bowler list later.</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5  ·  AUCTION ECONOMICS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The Price of Talent: Role &amp; Status</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How does price vary by role and whether a player was retained or auctioned?</a:t>
            </a:r>
          </a:p>
        </p:txBody>
      </p:sp>
      <p:pic>
        <p:nvPicPr>
          <p:cNvPr id="6" name="Picture 5" descr="EDA_27_18.png"/>
          <p:cNvPicPr>
            <a:picLocks noChangeAspect="1"/>
          </p:cNvPicPr>
          <p:nvPr/>
        </p:nvPicPr>
        <p:blipFill>
          <a:blip r:embed="rId2"/>
          <a:stretch>
            <a:fillRect/>
          </a:stretch>
        </p:blipFill>
        <p:spPr>
          <a:xfrm>
            <a:off x="274320" y="1005840"/>
            <a:ext cx="5577840" cy="3931920"/>
          </a:xfrm>
          <a:prstGeom prst="rect">
            <a:avLst/>
          </a:prstGeom>
        </p:spPr>
      </p:pic>
      <p:pic>
        <p:nvPicPr>
          <p:cNvPr id="7" name="Picture 6" descr="EDA_28_19.png"/>
          <p:cNvPicPr>
            <a:picLocks noChangeAspect="1"/>
          </p:cNvPicPr>
          <p:nvPr/>
        </p:nvPicPr>
        <p:blipFill>
          <a:blip r:embed="rId3"/>
          <a:stretch>
            <a:fillRect/>
          </a:stretch>
        </p:blipFill>
        <p:spPr>
          <a:xfrm>
            <a:off x="6035040" y="1005840"/>
            <a:ext cx="5760720" cy="3931920"/>
          </a:xfrm>
          <a:prstGeom prst="rect">
            <a:avLst/>
          </a:prstGeom>
        </p:spPr>
      </p:pic>
      <p:sp>
        <p:nvSpPr>
          <p:cNvPr id="8" name="Rectangle 7"/>
          <p:cNvSpPr/>
          <p:nvPr/>
        </p:nvSpPr>
        <p:spPr>
          <a:xfrm>
            <a:off x="274320" y="5029200"/>
            <a:ext cx="11430000" cy="173736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120640"/>
            <a:ext cx="10972800" cy="320040"/>
          </a:xfrm>
          <a:prstGeom prst="rect">
            <a:avLst/>
          </a:prstGeom>
          <a:noFill/>
        </p:spPr>
        <p:txBody>
          <a:bodyPr wrap="square">
            <a:spAutoFit/>
          </a:bodyPr>
          <a:lstStyle/>
          <a:p>
            <a:pPr algn="l"/>
            <a:r>
              <a:rPr sz="1100" b="1" i="0">
                <a:solidFill>
                  <a:srgbClr val="FFA500"/>
                </a:solidFill>
              </a:rPr>
              <a:t>📊  Interpretation</a:t>
            </a:r>
          </a:p>
        </p:txBody>
      </p:sp>
      <p:sp>
        <p:nvSpPr>
          <p:cNvPr id="10" name="TextBox 9"/>
          <p:cNvSpPr txBox="1"/>
          <p:nvPr/>
        </p:nvSpPr>
        <p:spPr>
          <a:xfrm>
            <a:off x="457200" y="5468112"/>
            <a:ext cx="11247120" cy="1188720"/>
          </a:xfrm>
          <a:prstGeom prst="rect">
            <a:avLst/>
          </a:prstGeom>
          <a:noFill/>
        </p:spPr>
        <p:txBody>
          <a:bodyPr wrap="square">
            <a:spAutoFit/>
          </a:bodyPr>
          <a:lstStyle/>
          <a:p>
            <a:pPr algn="l"/>
            <a:r>
              <a:rPr sz="1100" b="0" i="0">
                <a:solidFill>
                  <a:srgbClr val="CCD6E0"/>
                </a:solidFill>
              </a:rPr>
              <a:t>Batters command the highest median prices, followed by All-Rounders and Bowlers — reflecting IPL's traditionally batting-centric valuation philosophy. The retained vs auctioned histogram shows retained players have a significantly higher average price, meaning teams allocated their biggest investments to known quantities. However, the auctioned pool had a wide spread, suggesting opportunistic bargains were available if teams scouted correctly.</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5  ·  AUCTION ECONOMICS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Where Did the Money Go?</a:t>
            </a:r>
          </a:p>
        </p:txBody>
      </p:sp>
      <p:pic>
        <p:nvPicPr>
          <p:cNvPr id="5" name="Picture 4" descr="EDA_29_20.png"/>
          <p:cNvPicPr>
            <a:picLocks noChangeAspect="1"/>
          </p:cNvPicPr>
          <p:nvPr/>
        </p:nvPicPr>
        <p:blipFill>
          <a:blip r:embed="rId2"/>
          <a:stretch>
            <a:fillRect/>
          </a:stretch>
        </p:blipFill>
        <p:spPr>
          <a:xfrm>
            <a:off x="274320" y="777240"/>
            <a:ext cx="6858000" cy="4846320"/>
          </a:xfrm>
          <a:prstGeom prst="rect">
            <a:avLst/>
          </a:prstGeom>
        </p:spPr>
      </p:pic>
      <p:pic>
        <p:nvPicPr>
          <p:cNvPr id="6" name="Picture 5" descr="EDA_31_21.png"/>
          <p:cNvPicPr>
            <a:picLocks noChangeAspect="1"/>
          </p:cNvPicPr>
          <p:nvPr/>
        </p:nvPicPr>
        <p:blipFill>
          <a:blip r:embed="rId3"/>
          <a:stretch>
            <a:fillRect/>
          </a:stretch>
        </p:blipFill>
        <p:spPr>
          <a:xfrm>
            <a:off x="7315200" y="777240"/>
            <a:ext cx="4663440" cy="4846320"/>
          </a:xfrm>
          <a:prstGeom prst="rect">
            <a:avLst/>
          </a:prstGeom>
        </p:spPr>
      </p:pic>
      <p:sp>
        <p:nvSpPr>
          <p:cNvPr id="7" name="Rectangle 6"/>
          <p:cNvSpPr/>
          <p:nvPr/>
        </p:nvSpPr>
        <p:spPr>
          <a:xfrm>
            <a:off x="274320" y="5669280"/>
            <a:ext cx="11430000" cy="109728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742432"/>
            <a:ext cx="10972800" cy="32004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6080760"/>
            <a:ext cx="11247120" cy="640080"/>
          </a:xfrm>
          <a:prstGeom prst="rect">
            <a:avLst/>
          </a:prstGeom>
          <a:noFill/>
        </p:spPr>
        <p:txBody>
          <a:bodyPr wrap="square">
            <a:spAutoFit/>
          </a:bodyPr>
          <a:lstStyle/>
          <a:p>
            <a:pPr algn="l"/>
            <a:r>
              <a:rPr sz="1100" b="0" i="0">
                <a:solidFill>
                  <a:srgbClr val="CCD6E0"/>
                </a:solidFill>
              </a:rPr>
              <a:t>Top 15 most expensive players span multiple teams and roles, with all-rounders and marquee batters commanding the biggest cheques. The team total roster value chart shows which franchises spent the most in aggregate — higher spend does not always translate to a proportional win rate, as seen when cross-referencing with the league standings (e.g., CSK spent heavily but finished at 28.6% win rate).</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5  ·  AUCTION ECONOMICS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Capped Premium &amp; Best Value Batters</a:t>
            </a:r>
          </a:p>
        </p:txBody>
      </p:sp>
      <p:pic>
        <p:nvPicPr>
          <p:cNvPr id="5" name="Picture 4" descr="EDA_32_22.png"/>
          <p:cNvPicPr>
            <a:picLocks noChangeAspect="1"/>
          </p:cNvPicPr>
          <p:nvPr/>
        </p:nvPicPr>
        <p:blipFill>
          <a:blip r:embed="rId2"/>
          <a:stretch>
            <a:fillRect/>
          </a:stretch>
        </p:blipFill>
        <p:spPr>
          <a:xfrm>
            <a:off x="274320" y="777240"/>
            <a:ext cx="4572000" cy="4114800"/>
          </a:xfrm>
          <a:prstGeom prst="rect">
            <a:avLst/>
          </a:prstGeom>
        </p:spPr>
      </p:pic>
      <p:pic>
        <p:nvPicPr>
          <p:cNvPr id="6" name="Picture 5" descr="EDA_33_23.png"/>
          <p:cNvPicPr>
            <a:picLocks noChangeAspect="1"/>
          </p:cNvPicPr>
          <p:nvPr/>
        </p:nvPicPr>
        <p:blipFill>
          <a:blip r:embed="rId3"/>
          <a:stretch>
            <a:fillRect/>
          </a:stretch>
        </p:blipFill>
        <p:spPr>
          <a:xfrm>
            <a:off x="5120640" y="777240"/>
            <a:ext cx="6766560" cy="5029200"/>
          </a:xfrm>
          <a:prstGeom prst="rect">
            <a:avLst/>
          </a:prstGeom>
        </p:spPr>
      </p:pic>
      <p:sp>
        <p:nvSpPr>
          <p:cNvPr id="7" name="Rectangle 6"/>
          <p:cNvSpPr/>
          <p:nvPr/>
        </p:nvSpPr>
        <p:spPr>
          <a:xfrm>
            <a:off x="274320" y="5870448"/>
            <a:ext cx="11430000" cy="9144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943600"/>
            <a:ext cx="10972800" cy="27432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6236208"/>
            <a:ext cx="11247120" cy="502920"/>
          </a:xfrm>
          <a:prstGeom prst="rect">
            <a:avLst/>
          </a:prstGeom>
          <a:noFill/>
        </p:spPr>
        <p:txBody>
          <a:bodyPr wrap="square">
            <a:spAutoFit/>
          </a:bodyPr>
          <a:lstStyle/>
          <a:p>
            <a:pPr algn="l"/>
            <a:r>
              <a:rPr sz="1100" b="0" i="0">
                <a:solidFill>
                  <a:srgbClr val="CCD6E0"/>
                </a:solidFill>
              </a:rPr>
              <a:t>Capped players command a significantly higher average auction price than uncapped players. Yet the Runs-per-Crore chart (right) shows that several uncapped or low-cost players delivered far more runs per rupee spent — a direct signal of market inefficiency that smart franchises can exploit.</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6  ·  VENUES &amp; PITCHES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Venues: Runs, Pitches &amp; Ground Sizes</a:t>
            </a:r>
          </a:p>
        </p:txBody>
      </p:sp>
      <p:pic>
        <p:nvPicPr>
          <p:cNvPr id="5" name="Picture 4" descr="EDA_35_24.png"/>
          <p:cNvPicPr>
            <a:picLocks noChangeAspect="1"/>
          </p:cNvPicPr>
          <p:nvPr/>
        </p:nvPicPr>
        <p:blipFill>
          <a:blip r:embed="rId2"/>
          <a:stretch>
            <a:fillRect/>
          </a:stretch>
        </p:blipFill>
        <p:spPr>
          <a:xfrm>
            <a:off x="274320" y="777240"/>
            <a:ext cx="6400800" cy="5029200"/>
          </a:xfrm>
          <a:prstGeom prst="rect">
            <a:avLst/>
          </a:prstGeom>
        </p:spPr>
      </p:pic>
      <p:pic>
        <p:nvPicPr>
          <p:cNvPr id="6" name="Picture 5" descr="EDA_36_25.png"/>
          <p:cNvPicPr>
            <a:picLocks noChangeAspect="1"/>
          </p:cNvPicPr>
          <p:nvPr/>
        </p:nvPicPr>
        <p:blipFill>
          <a:blip r:embed="rId3"/>
          <a:stretch>
            <a:fillRect/>
          </a:stretch>
        </p:blipFill>
        <p:spPr>
          <a:xfrm>
            <a:off x="6858000" y="914400"/>
            <a:ext cx="4937760" cy="4114800"/>
          </a:xfrm>
          <a:prstGeom prst="rect">
            <a:avLst/>
          </a:prstGeom>
        </p:spPr>
      </p:pic>
      <p:sp>
        <p:nvSpPr>
          <p:cNvPr id="7" name="Rectangle 6"/>
          <p:cNvSpPr/>
          <p:nvPr/>
        </p:nvSpPr>
        <p:spPr>
          <a:xfrm>
            <a:off x="274320" y="5870448"/>
            <a:ext cx="11430000" cy="9144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943600"/>
            <a:ext cx="10972800" cy="27432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6236208"/>
            <a:ext cx="11247120" cy="502920"/>
          </a:xfrm>
          <a:prstGeom prst="rect">
            <a:avLst/>
          </a:prstGeom>
          <a:noFill/>
        </p:spPr>
        <p:txBody>
          <a:bodyPr wrap="square">
            <a:spAutoFit/>
          </a:bodyPr>
          <a:lstStyle/>
          <a:p>
            <a:pPr algn="l"/>
            <a:r>
              <a:rPr sz="1100" b="0" i="0">
                <a:solidFill>
                  <a:srgbClr val="CCD6E0"/>
                </a:solidFill>
              </a:rPr>
              <a:t>Average innings scores vary considerably across venues — certain grounds consistently produce high-scoring games (batters' paradise), while others suppress totals. The pitch distribution pie shows the majority of pitches lean batting-friendly or balanced, with fewer genuinely seaming or spin tracks. Understanding venue tendencies is critical when selecting team composition for home and away games.</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6  ·  VENUES &amp; PITCHES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Chase Dynamics &amp; Phase Scoring Across Venues</a:t>
            </a:r>
          </a:p>
        </p:txBody>
      </p:sp>
      <p:pic>
        <p:nvPicPr>
          <p:cNvPr id="5" name="Picture 4" descr="EDA_39_26.png"/>
          <p:cNvPicPr>
            <a:picLocks noChangeAspect="1"/>
          </p:cNvPicPr>
          <p:nvPr/>
        </p:nvPicPr>
        <p:blipFill>
          <a:blip r:embed="rId2"/>
          <a:stretch>
            <a:fillRect/>
          </a:stretch>
        </p:blipFill>
        <p:spPr>
          <a:xfrm>
            <a:off x="274320" y="777240"/>
            <a:ext cx="5029200" cy="4206240"/>
          </a:xfrm>
          <a:prstGeom prst="rect">
            <a:avLst/>
          </a:prstGeom>
        </p:spPr>
      </p:pic>
      <p:pic>
        <p:nvPicPr>
          <p:cNvPr id="6" name="Picture 5" descr="EDA_40_27.png"/>
          <p:cNvPicPr>
            <a:picLocks noChangeAspect="1"/>
          </p:cNvPicPr>
          <p:nvPr/>
        </p:nvPicPr>
        <p:blipFill>
          <a:blip r:embed="rId3"/>
          <a:stretch>
            <a:fillRect/>
          </a:stretch>
        </p:blipFill>
        <p:spPr>
          <a:xfrm>
            <a:off x="5486400" y="777240"/>
            <a:ext cx="3291840" cy="3931920"/>
          </a:xfrm>
          <a:prstGeom prst="rect">
            <a:avLst/>
          </a:prstGeom>
        </p:spPr>
      </p:pic>
      <p:pic>
        <p:nvPicPr>
          <p:cNvPr id="7" name="Picture 6" descr="EDA_41_28.png"/>
          <p:cNvPicPr>
            <a:picLocks noChangeAspect="1"/>
          </p:cNvPicPr>
          <p:nvPr/>
        </p:nvPicPr>
        <p:blipFill>
          <a:blip r:embed="rId4"/>
          <a:stretch>
            <a:fillRect/>
          </a:stretch>
        </p:blipFill>
        <p:spPr>
          <a:xfrm>
            <a:off x="8869680" y="777240"/>
            <a:ext cx="3108960" cy="3931920"/>
          </a:xfrm>
          <a:prstGeom prst="rect">
            <a:avLst/>
          </a:prstGeom>
        </p:spPr>
      </p:pic>
      <p:sp>
        <p:nvSpPr>
          <p:cNvPr id="8" name="Rectangle 7"/>
          <p:cNvSpPr/>
          <p:nvPr/>
        </p:nvSpPr>
        <p:spPr>
          <a:xfrm>
            <a:off x="274320" y="5074920"/>
            <a:ext cx="11430000" cy="170992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166360"/>
            <a:ext cx="10972800" cy="320040"/>
          </a:xfrm>
          <a:prstGeom prst="rect">
            <a:avLst/>
          </a:prstGeom>
          <a:noFill/>
        </p:spPr>
        <p:txBody>
          <a:bodyPr wrap="square">
            <a:spAutoFit/>
          </a:bodyPr>
          <a:lstStyle/>
          <a:p>
            <a:pPr algn="l"/>
            <a:r>
              <a:rPr sz="1100" b="1" i="0">
                <a:solidFill>
                  <a:srgbClr val="FFA500"/>
                </a:solidFill>
              </a:rPr>
              <a:t>📊  Interpretation</a:t>
            </a:r>
          </a:p>
        </p:txBody>
      </p:sp>
      <p:sp>
        <p:nvSpPr>
          <p:cNvPr id="10" name="TextBox 9"/>
          <p:cNvSpPr txBox="1"/>
          <p:nvPr/>
        </p:nvSpPr>
        <p:spPr>
          <a:xfrm>
            <a:off x="457200" y="5559552"/>
            <a:ext cx="11247120" cy="1097280"/>
          </a:xfrm>
          <a:prstGeom prst="rect">
            <a:avLst/>
          </a:prstGeom>
          <a:noFill/>
        </p:spPr>
        <p:txBody>
          <a:bodyPr wrap="square">
            <a:spAutoFit/>
          </a:bodyPr>
          <a:lstStyle/>
          <a:p>
            <a:pPr algn="l"/>
            <a:r>
              <a:rPr sz="1100" b="0" i="0">
                <a:solidFill>
                  <a:srgbClr val="CCD6E0"/>
                </a:solidFill>
              </a:rPr>
              <a:t>The Chase Win % chart (left) shows green bars where chasers win &gt;50% of games — these venues favour teams with strong batting line-ups. Red bars signal bat-first advantage, useful for teams with aggressive openers but fragile bowling. The Powerplay and Death run rates by venue (right two charts) reveal which grounds are most explosive in each phase — essential data for selecting whether to include extra pace or spin resources in a squad.</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6  ·  VENUES &amp; PITCHES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Ground Capacity &amp; Metric Correlations</a:t>
            </a:r>
          </a:p>
        </p:txBody>
      </p:sp>
      <p:pic>
        <p:nvPicPr>
          <p:cNvPr id="5" name="Picture 4" descr="EDA_42_29.png"/>
          <p:cNvPicPr>
            <a:picLocks noChangeAspect="1"/>
          </p:cNvPicPr>
          <p:nvPr/>
        </p:nvPicPr>
        <p:blipFill>
          <a:blip r:embed="rId2"/>
          <a:stretch>
            <a:fillRect/>
          </a:stretch>
        </p:blipFill>
        <p:spPr>
          <a:xfrm>
            <a:off x="274320" y="777240"/>
            <a:ext cx="4114800" cy="3840480"/>
          </a:xfrm>
          <a:prstGeom prst="rect">
            <a:avLst/>
          </a:prstGeom>
        </p:spPr>
      </p:pic>
      <p:pic>
        <p:nvPicPr>
          <p:cNvPr id="6" name="Picture 5" descr="EDA_43_30.png"/>
          <p:cNvPicPr>
            <a:picLocks noChangeAspect="1"/>
          </p:cNvPicPr>
          <p:nvPr/>
        </p:nvPicPr>
        <p:blipFill>
          <a:blip r:embed="rId3"/>
          <a:stretch>
            <a:fillRect/>
          </a:stretch>
        </p:blipFill>
        <p:spPr>
          <a:xfrm>
            <a:off x="4572000" y="777240"/>
            <a:ext cx="3657600" cy="4114800"/>
          </a:xfrm>
          <a:prstGeom prst="rect">
            <a:avLst/>
          </a:prstGeom>
        </p:spPr>
      </p:pic>
      <p:pic>
        <p:nvPicPr>
          <p:cNvPr id="7" name="Picture 6" descr="EDA_44_31.png"/>
          <p:cNvPicPr>
            <a:picLocks noChangeAspect="1"/>
          </p:cNvPicPr>
          <p:nvPr/>
        </p:nvPicPr>
        <p:blipFill>
          <a:blip r:embed="rId4"/>
          <a:stretch>
            <a:fillRect/>
          </a:stretch>
        </p:blipFill>
        <p:spPr>
          <a:xfrm>
            <a:off x="8412480" y="777240"/>
            <a:ext cx="3657600" cy="4114800"/>
          </a:xfrm>
          <a:prstGeom prst="rect">
            <a:avLst/>
          </a:prstGeom>
        </p:spPr>
      </p:pic>
      <p:sp>
        <p:nvSpPr>
          <p:cNvPr id="8" name="Rectangle 7"/>
          <p:cNvSpPr/>
          <p:nvPr/>
        </p:nvSpPr>
        <p:spPr>
          <a:xfrm>
            <a:off x="274320" y="4983480"/>
            <a:ext cx="11430000" cy="18013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074920"/>
            <a:ext cx="10972800" cy="320040"/>
          </a:xfrm>
          <a:prstGeom prst="rect">
            <a:avLst/>
          </a:prstGeom>
          <a:noFill/>
        </p:spPr>
        <p:txBody>
          <a:bodyPr wrap="square">
            <a:spAutoFit/>
          </a:bodyPr>
          <a:lstStyle/>
          <a:p>
            <a:pPr algn="l"/>
            <a:r>
              <a:rPr sz="1100" b="1" i="0">
                <a:solidFill>
                  <a:srgbClr val="FFA500"/>
                </a:solidFill>
              </a:rPr>
              <a:t>📊  Interpretation</a:t>
            </a:r>
          </a:p>
        </p:txBody>
      </p:sp>
      <p:sp>
        <p:nvSpPr>
          <p:cNvPr id="10" name="TextBox 9"/>
          <p:cNvSpPr txBox="1"/>
          <p:nvPr/>
        </p:nvSpPr>
        <p:spPr>
          <a:xfrm>
            <a:off x="457200" y="5468112"/>
            <a:ext cx="11247120" cy="1188720"/>
          </a:xfrm>
          <a:prstGeom prst="rect">
            <a:avLst/>
          </a:prstGeom>
          <a:noFill/>
        </p:spPr>
        <p:txBody>
          <a:bodyPr wrap="square">
            <a:spAutoFit/>
          </a:bodyPr>
          <a:lstStyle/>
          <a:p>
            <a:pPr algn="l"/>
            <a:r>
              <a:rPr sz="1100" b="0" i="0">
                <a:solidFill>
                  <a:srgbClr val="CCD6E0"/>
                </a:solidFill>
              </a:rPr>
              <a:t>Stadium capacity vs avg score scatter shows no strong linear relationship — large grounds don't necessarily produce low scores. The batting correlation heatmap reveals Runs, BF and Fours are tightly correlated with each other, but Price_Cr shows weak correlation with performance metrics — confirming auction inefficiencies. The bowling heatmap shows WKTS and MAT correlate well, while Economy and Average are inversely linked — good bowlers take wickets cheaply.</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7  ·  HOME ADVANTAGE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Home Ground Advantage &amp; Win Composition</a:t>
            </a:r>
          </a:p>
        </p:txBody>
      </p:sp>
      <p:pic>
        <p:nvPicPr>
          <p:cNvPr id="5" name="Picture 4" descr="EDA1_2_0.png"/>
          <p:cNvPicPr>
            <a:picLocks noChangeAspect="1"/>
          </p:cNvPicPr>
          <p:nvPr/>
        </p:nvPicPr>
        <p:blipFill>
          <a:blip r:embed="rId2"/>
          <a:stretch>
            <a:fillRect/>
          </a:stretch>
        </p:blipFill>
        <p:spPr>
          <a:xfrm>
            <a:off x="274320" y="777240"/>
            <a:ext cx="11430000" cy="5029200"/>
          </a:xfrm>
          <a:prstGeom prst="rect">
            <a:avLst/>
          </a:prstGeom>
        </p:spPr>
      </p:pic>
      <p:sp>
        <p:nvSpPr>
          <p:cNvPr id="6" name="Rectangle 5"/>
          <p:cNvSpPr/>
          <p:nvPr/>
        </p:nvSpPr>
        <p:spPr>
          <a:xfrm>
            <a:off x="274320" y="5870448"/>
            <a:ext cx="11430000" cy="91440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943600"/>
            <a:ext cx="10972800" cy="274320"/>
          </a:xfrm>
          <a:prstGeom prst="rect">
            <a:avLst/>
          </a:prstGeom>
          <a:noFill/>
        </p:spPr>
        <p:txBody>
          <a:bodyPr wrap="square">
            <a:spAutoFit/>
          </a:bodyPr>
          <a:lstStyle/>
          <a:p>
            <a:pPr algn="l"/>
            <a:r>
              <a:rPr sz="1100" b="1" i="0">
                <a:solidFill>
                  <a:srgbClr val="FFA500"/>
                </a:solidFill>
              </a:rPr>
              <a:t>📊  Interpretation</a:t>
            </a:r>
          </a:p>
        </p:txBody>
      </p:sp>
      <p:sp>
        <p:nvSpPr>
          <p:cNvPr id="8" name="TextBox 7"/>
          <p:cNvSpPr txBox="1"/>
          <p:nvPr/>
        </p:nvSpPr>
        <p:spPr>
          <a:xfrm>
            <a:off x="457200" y="6236208"/>
            <a:ext cx="11247120" cy="502920"/>
          </a:xfrm>
          <a:prstGeom prst="rect">
            <a:avLst/>
          </a:prstGeom>
          <a:noFill/>
        </p:spPr>
        <p:txBody>
          <a:bodyPr wrap="square">
            <a:spAutoFit/>
          </a:bodyPr>
          <a:lstStyle/>
          <a:p>
            <a:pPr algn="l"/>
            <a:r>
              <a:rPr sz="1100" b="0" i="0">
                <a:solidFill>
                  <a:srgbClr val="CCD6E0"/>
                </a:solidFill>
              </a:rPr>
              <a:t>The category breakdown shows Retained, Capped, and Uncapped player distributions — Retained players form the highest-paid cohort, while uncapped players represent the bulk of cheaper roster slots, confirming the tiered IPL auction structure.</a:t>
            </a:r>
          </a:p>
        </p:txBody>
      </p:sp>
      <p:sp>
        <p:nvSpPr>
          <p:cNvPr id="9" name="TextBox 8"/>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7  ·  HOME ADVANTAGE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How Teams Win: Batting vs Bowling Dominance</a:t>
            </a:r>
          </a:p>
        </p:txBody>
      </p:sp>
      <p:pic>
        <p:nvPicPr>
          <p:cNvPr id="5" name="Picture 4" descr="EDA1_40_4.png"/>
          <p:cNvPicPr>
            <a:picLocks noChangeAspect="1"/>
          </p:cNvPicPr>
          <p:nvPr/>
        </p:nvPicPr>
        <p:blipFill>
          <a:blip r:embed="rId2"/>
          <a:stretch>
            <a:fillRect/>
          </a:stretch>
        </p:blipFill>
        <p:spPr>
          <a:xfrm>
            <a:off x="274320" y="777240"/>
            <a:ext cx="11430000" cy="4983480"/>
          </a:xfrm>
          <a:prstGeom prst="rect">
            <a:avLst/>
          </a:prstGeom>
        </p:spPr>
      </p:pic>
      <p:sp>
        <p:nvSpPr>
          <p:cNvPr id="6" name="Rectangle 5"/>
          <p:cNvSpPr/>
          <p:nvPr/>
        </p:nvSpPr>
        <p:spPr>
          <a:xfrm>
            <a:off x="274320" y="5833872"/>
            <a:ext cx="11430000" cy="96012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907024"/>
            <a:ext cx="10972800" cy="274320"/>
          </a:xfrm>
          <a:prstGeom prst="rect">
            <a:avLst/>
          </a:prstGeom>
          <a:noFill/>
        </p:spPr>
        <p:txBody>
          <a:bodyPr wrap="square">
            <a:spAutoFit/>
          </a:bodyPr>
          <a:lstStyle/>
          <a:p>
            <a:pPr algn="l"/>
            <a:r>
              <a:rPr sz="1100" b="1" i="0">
                <a:solidFill>
                  <a:srgbClr val="FFA500"/>
                </a:solidFill>
              </a:rPr>
              <a:t>📊  Interpretation</a:t>
            </a:r>
          </a:p>
        </p:txBody>
      </p:sp>
      <p:sp>
        <p:nvSpPr>
          <p:cNvPr id="8" name="TextBox 7"/>
          <p:cNvSpPr txBox="1"/>
          <p:nvPr/>
        </p:nvSpPr>
        <p:spPr>
          <a:xfrm>
            <a:off x="457200" y="6199632"/>
            <a:ext cx="11247120" cy="530352"/>
          </a:xfrm>
          <a:prstGeom prst="rect">
            <a:avLst/>
          </a:prstGeom>
          <a:noFill/>
        </p:spPr>
        <p:txBody>
          <a:bodyPr wrap="square">
            <a:spAutoFit/>
          </a:bodyPr>
          <a:lstStyle/>
          <a:p>
            <a:pPr algn="l"/>
            <a:r>
              <a:rPr sz="1100" b="0" i="0">
                <a:solidFill>
                  <a:srgbClr val="CCD6E0"/>
                </a:solidFill>
              </a:rPr>
              <a:t>MI and RR win primarily through bowling-dominant performances (green), while GT splits more evenly. RCB is notably bowling-dominant despite being known as a batting team — a tactical shift. Teams with the highest 'Balanced' wins (blue) suggest superior all-round squads. Franchises whose wins are mostly batting-dominant are vulnerable to bowling-heavy opponents.</a:t>
            </a:r>
          </a:p>
        </p:txBody>
      </p:sp>
      <p:sp>
        <p:nvSpPr>
          <p:cNvPr id="9" name="TextBox 8"/>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8  ·  VALUE QUADRANTS</a:t>
            </a:r>
          </a:p>
        </p:txBody>
      </p:sp>
      <p:sp>
        <p:nvSpPr>
          <p:cNvPr id="4" name="TextBox 3"/>
          <p:cNvSpPr txBox="1"/>
          <p:nvPr/>
        </p:nvSpPr>
        <p:spPr>
          <a:xfrm>
            <a:off x="365760" y="182880"/>
            <a:ext cx="11430000" cy="502920"/>
          </a:xfrm>
          <a:prstGeom prst="rect">
            <a:avLst/>
          </a:prstGeom>
          <a:noFill/>
        </p:spPr>
        <p:txBody>
          <a:bodyPr wrap="square">
            <a:spAutoFit/>
          </a:bodyPr>
          <a:lstStyle/>
          <a:p>
            <a:pPr algn="l"/>
            <a:r>
              <a:rPr sz="2400" b="1" i="0">
                <a:solidFill>
                  <a:srgbClr val="FFFFFF"/>
                </a:solidFill>
              </a:rPr>
              <a:t>The Ultimate Value Map: Undervalued &amp; Overvalued Players</a:t>
            </a:r>
          </a:p>
        </p:txBody>
      </p:sp>
      <p:pic>
        <p:nvPicPr>
          <p:cNvPr id="5" name="Picture 4" descr="EDA_49_34.png"/>
          <p:cNvPicPr>
            <a:picLocks noChangeAspect="1"/>
          </p:cNvPicPr>
          <p:nvPr/>
        </p:nvPicPr>
        <p:blipFill>
          <a:blip r:embed="rId2"/>
          <a:stretch>
            <a:fillRect/>
          </a:stretch>
        </p:blipFill>
        <p:spPr>
          <a:xfrm>
            <a:off x="274320" y="749808"/>
            <a:ext cx="7132320" cy="4160520"/>
          </a:xfrm>
          <a:prstGeom prst="rect">
            <a:avLst/>
          </a:prstGeom>
        </p:spPr>
      </p:pic>
      <p:pic>
        <p:nvPicPr>
          <p:cNvPr id="6" name="Picture 5" descr="EDA_48_33.png"/>
          <p:cNvPicPr>
            <a:picLocks noChangeAspect="1"/>
          </p:cNvPicPr>
          <p:nvPr/>
        </p:nvPicPr>
        <p:blipFill>
          <a:blip r:embed="rId3"/>
          <a:stretch>
            <a:fillRect/>
          </a:stretch>
        </p:blipFill>
        <p:spPr>
          <a:xfrm>
            <a:off x="7498079" y="749808"/>
            <a:ext cx="4480560" cy="4160520"/>
          </a:xfrm>
          <a:prstGeom prst="rect">
            <a:avLst/>
          </a:prstGeom>
        </p:spPr>
      </p:pic>
      <p:sp>
        <p:nvSpPr>
          <p:cNvPr id="7" name="Rectangle 6"/>
          <p:cNvSpPr/>
          <p:nvPr/>
        </p:nvSpPr>
        <p:spPr>
          <a:xfrm>
            <a:off x="274320" y="4983480"/>
            <a:ext cx="11430000" cy="18013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074920"/>
            <a:ext cx="10972800" cy="320040"/>
          </a:xfrm>
          <a:prstGeom prst="rect">
            <a:avLst/>
          </a:prstGeom>
          <a:noFill/>
        </p:spPr>
        <p:txBody>
          <a:bodyPr wrap="square">
            <a:spAutoFit/>
          </a:bodyPr>
          <a:lstStyle/>
          <a:p>
            <a:pPr algn="l"/>
            <a:r>
              <a:rPr sz="1100" b="1" i="0">
                <a:solidFill>
                  <a:srgbClr val="FFA500"/>
                </a:solidFill>
              </a:rPr>
              <a:t>📊  Interpretation</a:t>
            </a:r>
          </a:p>
        </p:txBody>
      </p:sp>
      <p:sp>
        <p:nvSpPr>
          <p:cNvPr id="9" name="TextBox 8"/>
          <p:cNvSpPr txBox="1"/>
          <p:nvPr/>
        </p:nvSpPr>
        <p:spPr>
          <a:xfrm>
            <a:off x="457200" y="5468112"/>
            <a:ext cx="11247120" cy="1188720"/>
          </a:xfrm>
          <a:prstGeom prst="rect">
            <a:avLst/>
          </a:prstGeom>
          <a:noFill/>
        </p:spPr>
        <p:txBody>
          <a:bodyPr wrap="square">
            <a:spAutoFit/>
          </a:bodyPr>
          <a:lstStyle/>
          <a:p>
            <a:pPr algn="l"/>
            <a:r>
              <a:rPr sz="1100" b="0" i="0">
                <a:solidFill>
                  <a:srgbClr val="CCD6E0"/>
                </a:solidFill>
              </a:rPr>
              <a:t>The main scatter plots all batters (circles) and bowlers (triangles) on Price vs Value Score axes. Top-left (green) = UNDERVALUED: high value, low price — the hidden gems. Unadkat (₹1Cr), Suryavanshi (₹1.1Cr) and Verma (₹0.3Cr) stand out as incredible buys. Bottom-right (red) = OVERVALUED: high price, low value — questioned investments. The radar charts (right) confirm top players' multi-dimensional strengths across Price Efficiency, Strike Rate, Average, Powerplay SR, and Death SR.</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 — PHASE SPECIALISTS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Who Destroys Bowlers in Death Overs?</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Death Overs Strike Rate — Top 15 Batters (overs 16–20)</a:t>
            </a:r>
          </a:p>
        </p:txBody>
      </p:sp>
      <p:pic>
        <p:nvPicPr>
          <p:cNvPr id="6" name="Picture 5" descr="new_08_death_sr_top15.png"/>
          <p:cNvPicPr>
            <a:picLocks noChangeAspect="1"/>
          </p:cNvPicPr>
          <p:nvPr/>
        </p:nvPicPr>
        <p:blipFill>
          <a:blip r:embed="rId2"/>
          <a:stretch>
            <a:fillRect/>
          </a:stretch>
        </p:blipFill>
        <p:spPr>
          <a:xfrm>
            <a:off x="274320" y="1005840"/>
            <a:ext cx="7772400" cy="5349240"/>
          </a:xfrm>
          <a:prstGeom prst="rect">
            <a:avLst/>
          </a:prstGeom>
        </p:spPr>
      </p:pic>
      <p:sp>
        <p:nvSpPr>
          <p:cNvPr id="7" name="Rectangle 6"/>
          <p:cNvSpPr/>
          <p:nvPr/>
        </p:nvSpPr>
        <p:spPr>
          <a:xfrm>
            <a:off x="8321040" y="1005840"/>
            <a:ext cx="356616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097280"/>
            <a:ext cx="3291840" cy="365760"/>
          </a:xfrm>
          <a:prstGeom prst="rect">
            <a:avLst/>
          </a:prstGeom>
          <a:noFill/>
        </p:spPr>
        <p:txBody>
          <a:bodyPr wrap="square">
            <a:spAutoFit/>
          </a:bodyPr>
          <a:lstStyle/>
          <a:p>
            <a:pPr algn="l"/>
            <a:r>
              <a:rPr sz="1200" b="1" i="0">
                <a:solidFill>
                  <a:srgbClr val="FFA500"/>
                </a:solidFill>
              </a:rPr>
              <a:t>📊  Interpretation</a:t>
            </a:r>
          </a:p>
        </p:txBody>
      </p:sp>
      <p:sp>
        <p:nvSpPr>
          <p:cNvPr id="9" name="TextBox 8"/>
          <p:cNvSpPr txBox="1"/>
          <p:nvPr/>
        </p:nvSpPr>
        <p:spPr>
          <a:xfrm>
            <a:off x="8458200" y="1508760"/>
            <a:ext cx="3291840" cy="4663440"/>
          </a:xfrm>
          <a:prstGeom prst="rect">
            <a:avLst/>
          </a:prstGeom>
          <a:noFill/>
        </p:spPr>
        <p:txBody>
          <a:bodyPr wrap="square">
            <a:spAutoFit/>
          </a:bodyPr>
          <a:lstStyle/>
          <a:p>
            <a:pPr algn="l"/>
            <a:r>
              <a:rPr sz="1050" b="0" i="0">
                <a:solidFill>
                  <a:srgbClr val="CCD6E0"/>
                </a:solidFill>
              </a:rPr>
              <a:t>Marcus Stoinis tops the chart at a staggering 289.2 strike rate in death overs — nearly 3 runs per ball — making him the most destructive finisher in IPL 2025.
Romario Shepherd (278.3) and Liam Livingstone (260.9) follow closely, both capable of winning matches single-handedly in the final overs.
All 15 batters exceed SR 200, confirming that death-over specialists are a distinct class of player.
The colour gradient (green → red) shows how strike rate declines down the list. Even the 15th-ranked J. Sharma at 200 is elite by any standard.
This list is crucial for franchise targeting — budget options like R. Shepherd offer explosive return on investment.</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23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 — PHASE SPECIALISTS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Death SR vs Price — Value in the Final Overs</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Bubble size = balls faced in death; colour = death SR (green=high, red=low)</a:t>
            </a:r>
          </a:p>
        </p:txBody>
      </p:sp>
      <p:pic>
        <p:nvPicPr>
          <p:cNvPr id="6" name="Picture 5" descr="new_06_death_sr_vs_price.png"/>
          <p:cNvPicPr>
            <a:picLocks noChangeAspect="1"/>
          </p:cNvPicPr>
          <p:nvPr/>
        </p:nvPicPr>
        <p:blipFill>
          <a:blip r:embed="rId2"/>
          <a:stretch>
            <a:fillRect/>
          </a:stretch>
        </p:blipFill>
        <p:spPr>
          <a:xfrm>
            <a:off x="274320" y="960120"/>
            <a:ext cx="7772400" cy="5440680"/>
          </a:xfrm>
          <a:prstGeom prst="rect">
            <a:avLst/>
          </a:prstGeom>
        </p:spPr>
      </p:pic>
      <p:sp>
        <p:nvSpPr>
          <p:cNvPr id="7" name="Rectangle 6"/>
          <p:cNvSpPr/>
          <p:nvPr/>
        </p:nvSpPr>
        <p:spPr>
          <a:xfrm>
            <a:off x="8321040" y="1005840"/>
            <a:ext cx="3566160" cy="534924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097280"/>
            <a:ext cx="3291840" cy="365760"/>
          </a:xfrm>
          <a:prstGeom prst="rect">
            <a:avLst/>
          </a:prstGeom>
          <a:noFill/>
        </p:spPr>
        <p:txBody>
          <a:bodyPr wrap="square">
            <a:spAutoFit/>
          </a:bodyPr>
          <a:lstStyle/>
          <a:p>
            <a:pPr algn="l"/>
            <a:r>
              <a:rPr sz="1200" b="1" i="0">
                <a:solidFill>
                  <a:srgbClr val="FFA500"/>
                </a:solidFill>
              </a:rPr>
              <a:t>📊  Interpretation</a:t>
            </a:r>
          </a:p>
        </p:txBody>
      </p:sp>
      <p:sp>
        <p:nvSpPr>
          <p:cNvPr id="9" name="TextBox 8"/>
          <p:cNvSpPr txBox="1"/>
          <p:nvPr/>
        </p:nvSpPr>
        <p:spPr>
          <a:xfrm>
            <a:off x="8458200" y="1508760"/>
            <a:ext cx="3291840" cy="4663440"/>
          </a:xfrm>
          <a:prstGeom prst="rect">
            <a:avLst/>
          </a:prstGeom>
          <a:noFill/>
        </p:spPr>
        <p:txBody>
          <a:bodyPr wrap="square">
            <a:spAutoFit/>
          </a:bodyPr>
          <a:lstStyle/>
          <a:p>
            <a:pPr algn="l"/>
            <a:r>
              <a:rPr sz="1050" b="0" i="0">
                <a:solidFill>
                  <a:srgbClr val="CCD6E0"/>
                </a:solidFill>
              </a:rPr>
              <a:t>The dashed lines split the chart into 4 quadrants: top-left = UNDERVALUED finishers (low price, high death SR).
R. Shepherd and L. Livingstone sit top-left at modest prices — exceptional value for their finishing ability.
M. Stoinis stands alone at the very top — the best death-over batter at a mid-range price.
Bottom-right cluster: expensive players with average death SR — classic overvaluation. Some marquee names command ₹20Cr+ but score at SR below 180.
Bubble size reveals volume of death-over exposure — large green bubbles in the top-right are the true premium finishers justifying their price.</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24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4  ·  BOWLING DEEP DIVE — PHASE SPECIALISTS</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Powerplay Economy: Best Bowling Restrictors</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Top 15 bowlers by PP economy (left) · PP Economy vs Price scatter (right)</a:t>
            </a:r>
          </a:p>
        </p:txBody>
      </p:sp>
      <p:pic>
        <p:nvPicPr>
          <p:cNvPr id="6" name="Picture 5" descr="new_07_pp_economy_top15.png"/>
          <p:cNvPicPr>
            <a:picLocks noChangeAspect="1"/>
          </p:cNvPicPr>
          <p:nvPr/>
        </p:nvPicPr>
        <p:blipFill>
          <a:blip r:embed="rId2"/>
          <a:stretch>
            <a:fillRect/>
          </a:stretch>
        </p:blipFill>
        <p:spPr>
          <a:xfrm>
            <a:off x="274320" y="960120"/>
            <a:ext cx="5486400" cy="5440680"/>
          </a:xfrm>
          <a:prstGeom prst="rect">
            <a:avLst/>
          </a:prstGeom>
        </p:spPr>
      </p:pic>
      <p:pic>
        <p:nvPicPr>
          <p:cNvPr id="7" name="Picture 6" descr="new_05_pp_econ_vs_price.png"/>
          <p:cNvPicPr>
            <a:picLocks noChangeAspect="1"/>
          </p:cNvPicPr>
          <p:nvPr/>
        </p:nvPicPr>
        <p:blipFill>
          <a:blip r:embed="rId3"/>
          <a:stretch>
            <a:fillRect/>
          </a:stretch>
        </p:blipFill>
        <p:spPr>
          <a:xfrm>
            <a:off x="5943600" y="960120"/>
            <a:ext cx="5943600" cy="5440680"/>
          </a:xfrm>
          <a:prstGeom prst="rect">
            <a:avLst/>
          </a:prstGeom>
        </p:spPr>
      </p:pic>
      <p:sp>
        <p:nvSpPr>
          <p:cNvPr id="8" name="Rectangle 7"/>
          <p:cNvSpPr/>
          <p:nvPr/>
        </p:nvSpPr>
        <p:spPr>
          <a:xfrm>
            <a:off x="274320" y="6492240"/>
            <a:ext cx="11430000" cy="27432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10528"/>
            <a:ext cx="11064240" cy="228600"/>
          </a:xfrm>
          <a:prstGeom prst="rect">
            <a:avLst/>
          </a:prstGeom>
          <a:noFill/>
        </p:spPr>
        <p:txBody>
          <a:bodyPr wrap="square">
            <a:spAutoFit/>
          </a:bodyPr>
          <a:lstStyle/>
          <a:p>
            <a:pPr algn="l"/>
            <a:r>
              <a:rPr sz="950" b="0" i="0">
                <a:solidFill>
                  <a:srgbClr val="CCD6E0"/>
                </a:solidFill>
              </a:rPr>
              <a:t>R. Khan (5.67) and M. Ali (5.86) are elite Powerplay bowlers — both under ₹5Cr, making them extraordinary value. Top-right PP scatter: R. Khan at ₹18Cr also justifies his cost as the only bowler combining premium price with sub-6 economy — a true star.</a:t>
            </a: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25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4  ·  BOWLING DEEP DIVE — AUCTION VALUE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Bowling Auction Value: Wickets per Crore</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Undervalued (left) vs Overvalued (right) — comparing wickets delivered per ₹Crore spent</a:t>
            </a:r>
          </a:p>
        </p:txBody>
      </p:sp>
      <p:pic>
        <p:nvPicPr>
          <p:cNvPr id="6" name="Picture 5" descr="new_01_bowlers_value.png"/>
          <p:cNvPicPr>
            <a:picLocks noChangeAspect="1"/>
          </p:cNvPicPr>
          <p:nvPr/>
        </p:nvPicPr>
        <p:blipFill>
          <a:blip r:embed="rId2"/>
          <a:stretch>
            <a:fillRect/>
          </a:stretch>
        </p:blipFill>
        <p:spPr>
          <a:xfrm>
            <a:off x="274320" y="960120"/>
            <a:ext cx="11430000" cy="5440680"/>
          </a:xfrm>
          <a:prstGeom prst="rect">
            <a:avLst/>
          </a:prstGeom>
        </p:spPr>
      </p:pic>
      <p:sp>
        <p:nvSpPr>
          <p:cNvPr id="7" name="Rectangle 6"/>
          <p:cNvSpPr/>
          <p:nvPr/>
        </p:nvSpPr>
        <p:spPr>
          <a:xfrm>
            <a:off x="274320" y="6492240"/>
            <a:ext cx="11430000" cy="29260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11064240" cy="228600"/>
          </a:xfrm>
          <a:prstGeom prst="rect">
            <a:avLst/>
          </a:prstGeom>
          <a:noFill/>
        </p:spPr>
        <p:txBody>
          <a:bodyPr wrap="square">
            <a:spAutoFit/>
          </a:bodyPr>
          <a:lstStyle/>
          <a:p>
            <a:pPr algn="l"/>
            <a:r>
              <a:rPr sz="950" b="0" i="0">
                <a:solidFill>
                  <a:srgbClr val="CCD6E0"/>
                </a:solidFill>
              </a:rPr>
              <a:t>A. Kumar leads at 36.6 wickets/Cr (₹0.3Cr, 11 wkts) — extraordinary market inefficiency. Contrast: R. Khan at 0.5 wkts/Cr despite ₹18Cr spend. J. Bumrah, M. Pathirana, S. Narine at 1.0 wkts/Cr — high price but consistent premium output at the top end.</a:t>
            </a:r>
          </a:p>
        </p:txBody>
      </p:sp>
      <p:sp>
        <p:nvSpPr>
          <p:cNvPr id="9" name="TextBox 8"/>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26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3  ·  BATTING DEEP DIVE — AUCTION VALUE</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Batting Auction Value: Runs per Crore</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Undervalued (left) vs Overvalued (right) — comparing runs delivered per ₹Crore spent</a:t>
            </a:r>
          </a:p>
        </p:txBody>
      </p:sp>
      <p:pic>
        <p:nvPicPr>
          <p:cNvPr id="6" name="Picture 5" descr="new_02_batters_value.png"/>
          <p:cNvPicPr>
            <a:picLocks noChangeAspect="1"/>
          </p:cNvPicPr>
          <p:nvPr/>
        </p:nvPicPr>
        <p:blipFill>
          <a:blip r:embed="rId2"/>
          <a:stretch>
            <a:fillRect/>
          </a:stretch>
        </p:blipFill>
        <p:spPr>
          <a:xfrm>
            <a:off x="274320" y="960120"/>
            <a:ext cx="11430000" cy="5440680"/>
          </a:xfrm>
          <a:prstGeom prst="rect">
            <a:avLst/>
          </a:prstGeom>
        </p:spPr>
      </p:pic>
      <p:sp>
        <p:nvSpPr>
          <p:cNvPr id="7" name="Rectangle 6"/>
          <p:cNvSpPr/>
          <p:nvPr/>
        </p:nvSpPr>
        <p:spPr>
          <a:xfrm>
            <a:off x="274320" y="6492240"/>
            <a:ext cx="11430000" cy="29260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11064240" cy="228600"/>
          </a:xfrm>
          <a:prstGeom prst="rect">
            <a:avLst/>
          </a:prstGeom>
          <a:noFill/>
        </p:spPr>
        <p:txBody>
          <a:bodyPr wrap="square">
            <a:spAutoFit/>
          </a:bodyPr>
          <a:lstStyle/>
          <a:p>
            <a:pPr algn="l"/>
            <a:r>
              <a:rPr sz="950" b="0" i="0">
                <a:solidFill>
                  <a:srgbClr val="CCD6E0"/>
                </a:solidFill>
              </a:rPr>
              <a:t>A. Verma (786 runs/Cr at ₹0.3Cr) is the single greatest batting bargain — over 100x more efficient than V. Iyer (5.98 runs/Cr at ₹23.75Cr). K. Nair (396/Cr) and R. Rickelton (388/Cr) also deliver massive value. On the right, R. Pant at ₹27Cr gave only 9.96 runs/Cr — 80x less efficient than Verma.</a:t>
            </a:r>
          </a:p>
        </p:txBody>
      </p:sp>
      <p:sp>
        <p:nvSpPr>
          <p:cNvPr id="9" name="TextBox 8"/>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27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7  ·  HOME ADVANTAGE — DETAILED</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Home vs Away: Batting Run Rate &amp; Bowling Economy</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Which teams genuinely benefit from home conditions?</a:t>
            </a:r>
          </a:p>
        </p:txBody>
      </p:sp>
      <p:pic>
        <p:nvPicPr>
          <p:cNvPr id="6" name="Picture 5" descr="new_04_home_away_batting.png"/>
          <p:cNvPicPr>
            <a:picLocks noChangeAspect="1"/>
          </p:cNvPicPr>
          <p:nvPr/>
        </p:nvPicPr>
        <p:blipFill>
          <a:blip r:embed="rId2"/>
          <a:stretch>
            <a:fillRect/>
          </a:stretch>
        </p:blipFill>
        <p:spPr>
          <a:xfrm>
            <a:off x="274320" y="1005840"/>
            <a:ext cx="5760720" cy="4846320"/>
          </a:xfrm>
          <a:prstGeom prst="rect">
            <a:avLst/>
          </a:prstGeom>
        </p:spPr>
      </p:pic>
      <p:pic>
        <p:nvPicPr>
          <p:cNvPr id="7" name="Picture 6" descr="new_03_home_away_bowling.png"/>
          <p:cNvPicPr>
            <a:picLocks noChangeAspect="1"/>
          </p:cNvPicPr>
          <p:nvPr/>
        </p:nvPicPr>
        <p:blipFill>
          <a:blip r:embed="rId3"/>
          <a:stretch>
            <a:fillRect/>
          </a:stretch>
        </p:blipFill>
        <p:spPr>
          <a:xfrm>
            <a:off x="6126480" y="1005840"/>
            <a:ext cx="5760720" cy="4846320"/>
          </a:xfrm>
          <a:prstGeom prst="rect">
            <a:avLst/>
          </a:prstGeom>
        </p:spPr>
      </p:pic>
      <p:sp>
        <p:nvSpPr>
          <p:cNvPr id="8" name="Rectangle 7"/>
          <p:cNvSpPr/>
          <p:nvPr/>
        </p:nvSpPr>
        <p:spPr>
          <a:xfrm>
            <a:off x="274320" y="5925312"/>
            <a:ext cx="11430000" cy="86868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989320"/>
            <a:ext cx="10972800" cy="274320"/>
          </a:xfrm>
          <a:prstGeom prst="rect">
            <a:avLst/>
          </a:prstGeom>
          <a:noFill/>
        </p:spPr>
        <p:txBody>
          <a:bodyPr wrap="square">
            <a:spAutoFit/>
          </a:bodyPr>
          <a:lstStyle/>
          <a:p>
            <a:pPr algn="l"/>
            <a:r>
              <a:rPr sz="1100" b="1" i="0">
                <a:solidFill>
                  <a:srgbClr val="FFA500"/>
                </a:solidFill>
              </a:rPr>
              <a:t>📊  Interpretation</a:t>
            </a:r>
          </a:p>
        </p:txBody>
      </p:sp>
      <p:sp>
        <p:nvSpPr>
          <p:cNvPr id="10" name="TextBox 9"/>
          <p:cNvSpPr txBox="1"/>
          <p:nvPr/>
        </p:nvSpPr>
        <p:spPr>
          <a:xfrm>
            <a:off x="457200" y="6263640"/>
            <a:ext cx="11064240" cy="475488"/>
          </a:xfrm>
          <a:prstGeom prst="rect">
            <a:avLst/>
          </a:prstGeom>
          <a:noFill/>
        </p:spPr>
        <p:txBody>
          <a:bodyPr wrap="square">
            <a:spAutoFit/>
          </a:bodyPr>
          <a:lstStyle/>
          <a:p>
            <a:pPr algn="l"/>
            <a:r>
              <a:rPr sz="1050" b="0" i="0">
                <a:solidFill>
                  <a:srgbClr val="CCD6E0"/>
                </a:solidFill>
              </a:rPr>
              <a:t>Batting (left): Most teams score higher at home — KKR, DC, SRH, GT, MI all show clear Home &gt; Away run rates. CSK is a notable exception, scoring better away. Bowling (right): MI has the starkest advantage — economy jumps from ~8 at home to ~9 away. GT and KKR maintain tighter away economies, suggesting squad depth. LSG actually bowl better away — their home conditions may not suit their bowling attack.</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28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6  ·  VENUES &amp; PITCHES — TOSS STRATEGY</a:t>
            </a:r>
          </a:p>
        </p:txBody>
      </p:sp>
      <p:sp>
        <p:nvSpPr>
          <p:cNvPr id="4" name="TextBox 3"/>
          <p:cNvSpPr txBox="1"/>
          <p:nvPr/>
        </p:nvSpPr>
        <p:spPr>
          <a:xfrm>
            <a:off x="365760" y="182880"/>
            <a:ext cx="10972800" cy="502920"/>
          </a:xfrm>
          <a:prstGeom prst="rect">
            <a:avLst/>
          </a:prstGeom>
          <a:noFill/>
        </p:spPr>
        <p:txBody>
          <a:bodyPr wrap="square">
            <a:spAutoFit/>
          </a:bodyPr>
          <a:lstStyle/>
          <a:p>
            <a:pPr algn="l"/>
            <a:r>
              <a:rPr sz="2600" b="1" i="0">
                <a:solidFill>
                  <a:srgbClr val="FFFFFF"/>
                </a:solidFill>
              </a:rPr>
              <a:t>Bat First or Bowl First? Venue &amp; Pitch Verdict</a:t>
            </a:r>
          </a:p>
        </p:txBody>
      </p:sp>
      <p:sp>
        <p:nvSpPr>
          <p:cNvPr id="5" name="TextBox 4"/>
          <p:cNvSpPr txBox="1"/>
          <p:nvPr/>
        </p:nvSpPr>
        <p:spPr>
          <a:xfrm>
            <a:off x="365760" y="694944"/>
            <a:ext cx="10972800" cy="320040"/>
          </a:xfrm>
          <a:prstGeom prst="rect">
            <a:avLst/>
          </a:prstGeom>
          <a:noFill/>
        </p:spPr>
        <p:txBody>
          <a:bodyPr wrap="square">
            <a:spAutoFit/>
          </a:bodyPr>
          <a:lstStyle/>
          <a:p>
            <a:pPr algn="l"/>
            <a:r>
              <a:rPr sz="1300" b="1" i="0">
                <a:solidFill>
                  <a:srgbClr val="FFA500"/>
                </a:solidFill>
              </a:rPr>
              <a:t>Win % by Venue-City (top) and Pitch Category (bottom) — blue=bat first, orange=bowl first</a:t>
            </a:r>
          </a:p>
        </p:txBody>
      </p:sp>
      <p:pic>
        <p:nvPicPr>
          <p:cNvPr id="6" name="Picture 5" descr="new_11_win_pct_venue.png"/>
          <p:cNvPicPr>
            <a:picLocks noChangeAspect="1"/>
          </p:cNvPicPr>
          <p:nvPr/>
        </p:nvPicPr>
        <p:blipFill>
          <a:blip r:embed="rId2"/>
          <a:stretch>
            <a:fillRect/>
          </a:stretch>
        </p:blipFill>
        <p:spPr>
          <a:xfrm>
            <a:off x="274320" y="1005840"/>
            <a:ext cx="6858000" cy="3291840"/>
          </a:xfrm>
          <a:prstGeom prst="rect">
            <a:avLst/>
          </a:prstGeom>
        </p:spPr>
      </p:pic>
      <p:pic>
        <p:nvPicPr>
          <p:cNvPr id="7" name="Picture 6" descr="new_12_win_pct_pitch.png"/>
          <p:cNvPicPr>
            <a:picLocks noChangeAspect="1"/>
          </p:cNvPicPr>
          <p:nvPr/>
        </p:nvPicPr>
        <p:blipFill>
          <a:blip r:embed="rId3"/>
          <a:stretch>
            <a:fillRect/>
          </a:stretch>
        </p:blipFill>
        <p:spPr>
          <a:xfrm>
            <a:off x="7223760" y="1005840"/>
            <a:ext cx="4663440" cy="3291840"/>
          </a:xfrm>
          <a:prstGeom prst="rect">
            <a:avLst/>
          </a:prstGeom>
        </p:spPr>
      </p:pic>
      <p:sp>
        <p:nvSpPr>
          <p:cNvPr id="8" name="Rectangle 7"/>
          <p:cNvSpPr/>
          <p:nvPr/>
        </p:nvSpPr>
        <p:spPr>
          <a:xfrm>
            <a:off x="274320" y="4389120"/>
            <a:ext cx="11430000" cy="239572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462272"/>
            <a:ext cx="10972800" cy="320040"/>
          </a:xfrm>
          <a:prstGeom prst="rect">
            <a:avLst/>
          </a:prstGeom>
          <a:noFill/>
        </p:spPr>
        <p:txBody>
          <a:bodyPr wrap="square">
            <a:spAutoFit/>
          </a:bodyPr>
          <a:lstStyle/>
          <a:p>
            <a:pPr algn="l"/>
            <a:r>
              <a:rPr sz="1200" b="1" i="0">
                <a:solidFill>
                  <a:srgbClr val="FFA500"/>
                </a:solidFill>
              </a:rPr>
              <a:t>📊  Interpretation</a:t>
            </a:r>
          </a:p>
        </p:txBody>
      </p:sp>
      <p:sp>
        <p:nvSpPr>
          <p:cNvPr id="10" name="TextBox 9"/>
          <p:cNvSpPr txBox="1"/>
          <p:nvPr/>
        </p:nvSpPr>
        <p:spPr>
          <a:xfrm>
            <a:off x="457200" y="4828032"/>
            <a:ext cx="11064240" cy="1828800"/>
          </a:xfrm>
          <a:prstGeom prst="rect">
            <a:avLst/>
          </a:prstGeom>
          <a:noFill/>
        </p:spPr>
        <p:txBody>
          <a:bodyPr wrap="square">
            <a:spAutoFit/>
          </a:bodyPr>
          <a:lstStyle/>
          <a:p>
            <a:pPr algn="l"/>
            <a:r>
              <a:rPr sz="1100" b="0" i="0">
                <a:solidFill>
                  <a:srgbClr val="CCD6E0"/>
                </a:solidFill>
              </a:rPr>
              <a:t>Venue chart: Hyderabad (Mixed) is bat-first dominant — 100% bat-first win rate (n=5). Jaipur and Delhi also heavily favour batting first (86%, 75%). Chennai is the polar opposite — 86% bowl-first win rate, making it the most chase-friendly venue.
Pitch category chart: On Pace-friendly pitches, bowling first wins 67% of the time — the clearest advantage. On Batting-friendly tracks, chasing wins 60% — set a big target and defend it. Mixed pitches (most common, n=49) slightly favour batting first at 55%. This data should directly drive toss decisions at each venue — a smart captain reads the surface and acts accordingly.</a:t>
            </a:r>
          </a:p>
        </p:txBody>
      </p:sp>
      <p:sp>
        <p:nvSpPr>
          <p:cNvPr id="11" name="TextBox 10"/>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29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320040"/>
          </a:xfrm>
          <a:prstGeom prst="rect">
            <a:avLst/>
          </a:prstGeom>
          <a:noFill/>
        </p:spPr>
        <p:txBody>
          <a:bodyPr wrap="square">
            <a:spAutoFit/>
          </a:bodyPr>
          <a:lstStyle/>
          <a:p>
            <a:pPr algn="l"/>
            <a:r>
              <a:rPr sz="900" b="1" i="0">
                <a:solidFill>
                  <a:srgbClr val="FFA500"/>
                </a:solidFill>
              </a:rPr>
              <a:t>CHAPTER 8  ·  VALUE QUADRANTS — ADVANCED METRICS</a:t>
            </a:r>
          </a:p>
        </p:txBody>
      </p:sp>
      <p:sp>
        <p:nvSpPr>
          <p:cNvPr id="4" name="TextBox 3"/>
          <p:cNvSpPr txBox="1"/>
          <p:nvPr/>
        </p:nvSpPr>
        <p:spPr>
          <a:xfrm>
            <a:off x="365760" y="182880"/>
            <a:ext cx="11430000" cy="502920"/>
          </a:xfrm>
          <a:prstGeom prst="rect">
            <a:avLst/>
          </a:prstGeom>
          <a:noFill/>
        </p:spPr>
        <p:txBody>
          <a:bodyPr wrap="square">
            <a:spAutoFit/>
          </a:bodyPr>
          <a:lstStyle/>
          <a:p>
            <a:pPr algn="l"/>
            <a:r>
              <a:rPr sz="2400" b="1" i="0">
                <a:solidFill>
                  <a:srgbClr val="FFFFFF"/>
                </a:solidFill>
              </a:rPr>
              <a:t>Performance Quadrants &amp; Composite Value Rankings</a:t>
            </a:r>
          </a:p>
        </p:txBody>
      </p:sp>
      <p:sp>
        <p:nvSpPr>
          <p:cNvPr id="5" name="TextBox 4"/>
          <p:cNvSpPr txBox="1"/>
          <p:nvPr/>
        </p:nvSpPr>
        <p:spPr>
          <a:xfrm>
            <a:off x="365760" y="694944"/>
            <a:ext cx="11430000" cy="320040"/>
          </a:xfrm>
          <a:prstGeom prst="rect">
            <a:avLst/>
          </a:prstGeom>
          <a:noFill/>
        </p:spPr>
        <p:txBody>
          <a:bodyPr wrap="square">
            <a:spAutoFit/>
          </a:bodyPr>
          <a:lstStyle/>
          <a:p>
            <a:pPr algn="l"/>
            <a:r>
              <a:rPr sz="1200" b="1" i="0">
                <a:solidFill>
                  <a:srgbClr val="FFA500"/>
                </a:solidFill>
              </a:rPr>
              <a:t>Bowler quadrant (top-left) · Batter quadrant (top-right) · Composite value rankings (bottom)</a:t>
            </a:r>
          </a:p>
        </p:txBody>
      </p:sp>
      <p:pic>
        <p:nvPicPr>
          <p:cNvPr id="6" name="Picture 5" descr="new_09_bowler_quadrant.png"/>
          <p:cNvPicPr>
            <a:picLocks noChangeAspect="1"/>
          </p:cNvPicPr>
          <p:nvPr/>
        </p:nvPicPr>
        <p:blipFill>
          <a:blip r:embed="rId2"/>
          <a:stretch>
            <a:fillRect/>
          </a:stretch>
        </p:blipFill>
        <p:spPr>
          <a:xfrm>
            <a:off x="274320" y="914400"/>
            <a:ext cx="5852160" cy="2606040"/>
          </a:xfrm>
          <a:prstGeom prst="rect">
            <a:avLst/>
          </a:prstGeom>
        </p:spPr>
      </p:pic>
      <p:pic>
        <p:nvPicPr>
          <p:cNvPr id="7" name="Picture 6" descr="new_10_batter_quadrant.png"/>
          <p:cNvPicPr>
            <a:picLocks noChangeAspect="1"/>
          </p:cNvPicPr>
          <p:nvPr/>
        </p:nvPicPr>
        <p:blipFill>
          <a:blip r:embed="rId3"/>
          <a:stretch>
            <a:fillRect/>
          </a:stretch>
        </p:blipFill>
        <p:spPr>
          <a:xfrm>
            <a:off x="6263640" y="914400"/>
            <a:ext cx="5760720" cy="2606040"/>
          </a:xfrm>
          <a:prstGeom prst="rect">
            <a:avLst/>
          </a:prstGeom>
        </p:spPr>
      </p:pic>
      <p:pic>
        <p:nvPicPr>
          <p:cNvPr id="8" name="Picture 7" descr="new_13_composite_score.png"/>
          <p:cNvPicPr>
            <a:picLocks noChangeAspect="1"/>
          </p:cNvPicPr>
          <p:nvPr/>
        </p:nvPicPr>
        <p:blipFill>
          <a:blip r:embed="rId4"/>
          <a:stretch>
            <a:fillRect/>
          </a:stretch>
        </p:blipFill>
        <p:spPr>
          <a:xfrm>
            <a:off x="274320" y="3611880"/>
            <a:ext cx="11612880" cy="3154680"/>
          </a:xfrm>
          <a:prstGeom prst="rect">
            <a:avLst/>
          </a:prstGeom>
        </p:spPr>
      </p:pic>
      <p:sp>
        <p:nvSpPr>
          <p:cNvPr id="9" name="Rectangle 8"/>
          <p:cNvSpPr/>
          <p:nvPr/>
        </p:nvSpPr>
        <p:spPr>
          <a:xfrm>
            <a:off x="274320" y="6784848"/>
            <a:ext cx="11430000" cy="0"/>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30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121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972800" cy="502920"/>
          </a:xfrm>
          <a:prstGeom prst="rect">
            <a:avLst/>
          </a:prstGeom>
          <a:noFill/>
        </p:spPr>
        <p:txBody>
          <a:bodyPr wrap="square">
            <a:spAutoFit/>
          </a:bodyPr>
          <a:lstStyle/>
          <a:p>
            <a:pPr algn="l"/>
            <a:r>
              <a:rPr sz="2800" b="1" i="0">
                <a:solidFill>
                  <a:srgbClr val="FFA500"/>
                </a:solidFill>
              </a:rPr>
              <a:t>🏏  KEY FINDINGS</a:t>
            </a:r>
          </a:p>
        </p:txBody>
      </p:sp>
      <p:sp>
        <p:nvSpPr>
          <p:cNvPr id="6" name="TextBox 5"/>
          <p:cNvSpPr txBox="1"/>
          <p:nvPr/>
        </p:nvSpPr>
        <p:spPr>
          <a:xfrm>
            <a:off x="365760" y="658368"/>
            <a:ext cx="10972800" cy="320040"/>
          </a:xfrm>
          <a:prstGeom prst="rect">
            <a:avLst/>
          </a:prstGeom>
          <a:noFill/>
        </p:spPr>
        <p:txBody>
          <a:bodyPr wrap="square">
            <a:spAutoFit/>
          </a:bodyPr>
          <a:lstStyle/>
          <a:p>
            <a:pPr algn="l"/>
            <a:r>
              <a:rPr sz="1400" b="0" i="1">
                <a:solidFill>
                  <a:srgbClr val="CCD6E0"/>
                </a:solidFill>
              </a:rPr>
              <a:t>What IPL 2025 data tells us about auction strategy</a:t>
            </a:r>
          </a:p>
        </p:txBody>
      </p:sp>
      <p:sp>
        <p:nvSpPr>
          <p:cNvPr id="7" name="Rectangle 6"/>
          <p:cNvSpPr/>
          <p:nvPr/>
        </p:nvSpPr>
        <p:spPr>
          <a:xfrm>
            <a:off x="320040" y="109728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9728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43000"/>
            <a:ext cx="5212080" cy="320040"/>
          </a:xfrm>
          <a:prstGeom prst="rect">
            <a:avLst/>
          </a:prstGeom>
          <a:noFill/>
        </p:spPr>
        <p:txBody>
          <a:bodyPr wrap="square">
            <a:spAutoFit/>
          </a:bodyPr>
          <a:lstStyle/>
          <a:p>
            <a:pPr algn="l"/>
            <a:r>
              <a:rPr sz="1050" b="1" i="0">
                <a:solidFill>
                  <a:srgbClr val="00C88A"/>
                </a:solidFill>
              </a:rPr>
              <a:t>1. Toss is overrated</a:t>
            </a:r>
          </a:p>
        </p:txBody>
      </p:sp>
      <p:sp>
        <p:nvSpPr>
          <p:cNvPr id="10" name="TextBox 9"/>
          <p:cNvSpPr txBox="1"/>
          <p:nvPr/>
        </p:nvSpPr>
        <p:spPr>
          <a:xfrm>
            <a:off x="429768" y="1481328"/>
            <a:ext cx="5212080" cy="1097280"/>
          </a:xfrm>
          <a:prstGeom prst="rect">
            <a:avLst/>
          </a:prstGeom>
          <a:noFill/>
        </p:spPr>
        <p:txBody>
          <a:bodyPr wrap="square">
            <a:spAutoFit/>
          </a:bodyPr>
          <a:lstStyle/>
          <a:p>
            <a:pPr algn="l"/>
            <a:r>
              <a:rPr sz="1000" b="0" i="0">
                <a:solidFill>
                  <a:srgbClr val="CCD6E0"/>
                </a:solidFill>
              </a:rPr>
              <a:t>81% chose to field, yet neither bat-first nor chase delivered &gt;35% win rate for toss winners. Squad depth matters more.</a:t>
            </a:r>
          </a:p>
        </p:txBody>
      </p:sp>
      <p:sp>
        <p:nvSpPr>
          <p:cNvPr id="11" name="Rectangle 10"/>
          <p:cNvSpPr/>
          <p:nvPr/>
        </p:nvSpPr>
        <p:spPr>
          <a:xfrm>
            <a:off x="6400800" y="109728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09728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143000"/>
            <a:ext cx="5212080" cy="320040"/>
          </a:xfrm>
          <a:prstGeom prst="rect">
            <a:avLst/>
          </a:prstGeom>
          <a:noFill/>
        </p:spPr>
        <p:txBody>
          <a:bodyPr wrap="square">
            <a:spAutoFit/>
          </a:bodyPr>
          <a:lstStyle/>
          <a:p>
            <a:pPr algn="l"/>
            <a:r>
              <a:rPr sz="1050" b="1" i="0">
                <a:solidFill>
                  <a:srgbClr val="00C88A"/>
                </a:solidFill>
              </a:rPr>
              <a:t>2. Death overs are the real battleground</a:t>
            </a:r>
          </a:p>
        </p:txBody>
      </p:sp>
      <p:sp>
        <p:nvSpPr>
          <p:cNvPr id="14" name="TextBox 13"/>
          <p:cNvSpPr txBox="1"/>
          <p:nvPr/>
        </p:nvSpPr>
        <p:spPr>
          <a:xfrm>
            <a:off x="6510528" y="1481328"/>
            <a:ext cx="5212080" cy="1097280"/>
          </a:xfrm>
          <a:prstGeom prst="rect">
            <a:avLst/>
          </a:prstGeom>
          <a:noFill/>
        </p:spPr>
        <p:txBody>
          <a:bodyPr wrap="square">
            <a:spAutoFit/>
          </a:bodyPr>
          <a:lstStyle/>
          <a:p>
            <a:pPr algn="l"/>
            <a:r>
              <a:rPr sz="1000" b="0" i="0">
                <a:solidFill>
                  <a:srgbClr val="CCD6E0"/>
                </a:solidFill>
              </a:rPr>
              <a:t>Run rates spike sharply in overs 16–20. Teams with dedicated death batters and bowlers consistently outperform.</a:t>
            </a:r>
          </a:p>
        </p:txBody>
      </p:sp>
      <p:sp>
        <p:nvSpPr>
          <p:cNvPr id="15" name="Rectangle 14"/>
          <p:cNvSpPr/>
          <p:nvPr/>
        </p:nvSpPr>
        <p:spPr>
          <a:xfrm>
            <a:off x="320040" y="283464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283464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2880360"/>
            <a:ext cx="5212080" cy="320040"/>
          </a:xfrm>
          <a:prstGeom prst="rect">
            <a:avLst/>
          </a:prstGeom>
          <a:noFill/>
        </p:spPr>
        <p:txBody>
          <a:bodyPr wrap="square">
            <a:spAutoFit/>
          </a:bodyPr>
          <a:lstStyle/>
          <a:p>
            <a:pPr algn="l"/>
            <a:r>
              <a:rPr sz="1050" b="1" i="0">
                <a:solidFill>
                  <a:srgbClr val="00C88A"/>
                </a:solidFill>
              </a:rPr>
              <a:t>3. Price ≠ Performance</a:t>
            </a:r>
          </a:p>
        </p:txBody>
      </p:sp>
      <p:sp>
        <p:nvSpPr>
          <p:cNvPr id="18" name="TextBox 17"/>
          <p:cNvSpPr txBox="1"/>
          <p:nvPr/>
        </p:nvSpPr>
        <p:spPr>
          <a:xfrm>
            <a:off x="429768" y="3218688"/>
            <a:ext cx="5212080" cy="1097280"/>
          </a:xfrm>
          <a:prstGeom prst="rect">
            <a:avLst/>
          </a:prstGeom>
          <a:noFill/>
        </p:spPr>
        <p:txBody>
          <a:bodyPr wrap="square">
            <a:spAutoFit/>
          </a:bodyPr>
          <a:lstStyle/>
          <a:p>
            <a:pPr algn="l"/>
            <a:r>
              <a:rPr sz="1000" b="0" i="0">
                <a:solidFill>
                  <a:srgbClr val="CCD6E0"/>
                </a:solidFill>
              </a:rPr>
              <a:t>Correlations of auction price with runs (batters) and wickets (bowlers) are weak. High spend does not guarantee top output.</a:t>
            </a:r>
          </a:p>
        </p:txBody>
      </p:sp>
      <p:sp>
        <p:nvSpPr>
          <p:cNvPr id="19" name="Rectangle 18"/>
          <p:cNvSpPr/>
          <p:nvPr/>
        </p:nvSpPr>
        <p:spPr>
          <a:xfrm>
            <a:off x="6400800" y="283464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283464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880360"/>
            <a:ext cx="5212080" cy="320040"/>
          </a:xfrm>
          <a:prstGeom prst="rect">
            <a:avLst/>
          </a:prstGeom>
          <a:noFill/>
        </p:spPr>
        <p:txBody>
          <a:bodyPr wrap="square">
            <a:spAutoFit/>
          </a:bodyPr>
          <a:lstStyle/>
          <a:p>
            <a:pPr algn="l"/>
            <a:r>
              <a:rPr sz="1050" b="1" i="0">
                <a:solidFill>
                  <a:srgbClr val="00C88A"/>
                </a:solidFill>
              </a:rPr>
              <a:t>4. Uncapped &amp; budget players are undervalued</a:t>
            </a:r>
          </a:p>
        </p:txBody>
      </p:sp>
      <p:sp>
        <p:nvSpPr>
          <p:cNvPr id="22" name="TextBox 21"/>
          <p:cNvSpPr txBox="1"/>
          <p:nvPr/>
        </p:nvSpPr>
        <p:spPr>
          <a:xfrm>
            <a:off x="6510528" y="3218688"/>
            <a:ext cx="5212080" cy="1097280"/>
          </a:xfrm>
          <a:prstGeom prst="rect">
            <a:avLst/>
          </a:prstGeom>
          <a:noFill/>
        </p:spPr>
        <p:txBody>
          <a:bodyPr wrap="square">
            <a:spAutoFit/>
          </a:bodyPr>
          <a:lstStyle/>
          <a:p>
            <a:pPr algn="l"/>
            <a:r>
              <a:rPr sz="1000" b="0" i="0">
                <a:solidFill>
                  <a:srgbClr val="CCD6E0"/>
                </a:solidFill>
              </a:rPr>
              <a:t>Suryavanshi (₹1.1Cr), Verma (₹0.3Cr), and Unadkat (₹1Cr) delivered the best value scores — proof of market inefficiency.</a:t>
            </a:r>
          </a:p>
        </p:txBody>
      </p:sp>
      <p:sp>
        <p:nvSpPr>
          <p:cNvPr id="23" name="Rectangle 22"/>
          <p:cNvSpPr/>
          <p:nvPr/>
        </p:nvSpPr>
        <p:spPr>
          <a:xfrm>
            <a:off x="320040" y="452628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452628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 y="4572000"/>
            <a:ext cx="5212080" cy="320040"/>
          </a:xfrm>
          <a:prstGeom prst="rect">
            <a:avLst/>
          </a:prstGeom>
          <a:noFill/>
        </p:spPr>
        <p:txBody>
          <a:bodyPr wrap="square">
            <a:spAutoFit/>
          </a:bodyPr>
          <a:lstStyle/>
          <a:p>
            <a:pPr algn="l"/>
            <a:r>
              <a:rPr sz="1050" b="1" i="0">
                <a:solidFill>
                  <a:srgbClr val="00C88A"/>
                </a:solidFill>
              </a:rPr>
              <a:t>5. Bumrah remains elite &amp; fairly priced</a:t>
            </a:r>
          </a:p>
        </p:txBody>
      </p:sp>
      <p:sp>
        <p:nvSpPr>
          <p:cNvPr id="26" name="TextBox 25"/>
          <p:cNvSpPr txBox="1"/>
          <p:nvPr/>
        </p:nvSpPr>
        <p:spPr>
          <a:xfrm>
            <a:off x="429768" y="4910328"/>
            <a:ext cx="5212080" cy="1097280"/>
          </a:xfrm>
          <a:prstGeom prst="rect">
            <a:avLst/>
          </a:prstGeom>
          <a:noFill/>
        </p:spPr>
        <p:txBody>
          <a:bodyPr wrap="square">
            <a:spAutoFit/>
          </a:bodyPr>
          <a:lstStyle/>
          <a:p>
            <a:pPr algn="l"/>
            <a:r>
              <a:rPr sz="1000" b="0" i="0">
                <a:solidFill>
                  <a:srgbClr val="CCD6E0"/>
                </a:solidFill>
              </a:rPr>
              <a:t>Among premium players, Bumrah (₹18Cr) justified his price with the highest value score among all bowlers (0.65).</a:t>
            </a:r>
          </a:p>
        </p:txBody>
      </p:sp>
      <p:sp>
        <p:nvSpPr>
          <p:cNvPr id="27" name="Rectangle 26"/>
          <p:cNvSpPr/>
          <p:nvPr/>
        </p:nvSpPr>
        <p:spPr>
          <a:xfrm>
            <a:off x="6400800" y="4526280"/>
            <a:ext cx="5394960" cy="1572768"/>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4526280"/>
            <a:ext cx="45720" cy="1572768"/>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0528" y="4572000"/>
            <a:ext cx="5212080" cy="320040"/>
          </a:xfrm>
          <a:prstGeom prst="rect">
            <a:avLst/>
          </a:prstGeom>
          <a:noFill/>
        </p:spPr>
        <p:txBody>
          <a:bodyPr wrap="square">
            <a:spAutoFit/>
          </a:bodyPr>
          <a:lstStyle/>
          <a:p>
            <a:pPr algn="l"/>
            <a:r>
              <a:rPr sz="1050" b="1" i="0">
                <a:solidFill>
                  <a:srgbClr val="00C88A"/>
                </a:solidFill>
              </a:rPr>
              <a:t>6. Home advantage is real but nuanced</a:t>
            </a:r>
          </a:p>
        </p:txBody>
      </p:sp>
      <p:sp>
        <p:nvSpPr>
          <p:cNvPr id="30" name="TextBox 29"/>
          <p:cNvSpPr txBox="1"/>
          <p:nvPr/>
        </p:nvSpPr>
        <p:spPr>
          <a:xfrm>
            <a:off x="6510528" y="4910328"/>
            <a:ext cx="5212080" cy="1097280"/>
          </a:xfrm>
          <a:prstGeom prst="rect">
            <a:avLst/>
          </a:prstGeom>
          <a:noFill/>
        </p:spPr>
        <p:txBody>
          <a:bodyPr wrap="square">
            <a:spAutoFit/>
          </a:bodyPr>
          <a:lstStyle/>
          <a:p>
            <a:pPr algn="l"/>
            <a:r>
              <a:rPr sz="1000" b="0" i="0">
                <a:solidFill>
                  <a:srgbClr val="CCD6E0"/>
                </a:solidFill>
              </a:rPr>
              <a:t>Most teams post higher run rates at home. Bowling economies also improve at home — familiar conditions are a genuine edge.</a:t>
            </a:r>
          </a:p>
        </p:txBody>
      </p:sp>
      <p:sp>
        <p:nvSpPr>
          <p:cNvPr id="31" name="Rectangle 30"/>
          <p:cNvSpPr/>
          <p:nvPr/>
        </p:nvSpPr>
        <p:spPr>
          <a:xfrm>
            <a:off x="320040" y="6126480"/>
            <a:ext cx="11430000" cy="621792"/>
          </a:xfrm>
          <a:prstGeom prst="rect">
            <a:avLst/>
          </a:prstGeom>
          <a:solidFill>
            <a:srgbClr val="1B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 y="6126480"/>
            <a:ext cx="45720" cy="621792"/>
          </a:xfrm>
          <a:prstGeom prst="rect">
            <a:avLst/>
          </a:prstGeom>
          <a:solidFill>
            <a:srgbClr val="00C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 y="6172200"/>
            <a:ext cx="11247120" cy="320040"/>
          </a:xfrm>
          <a:prstGeom prst="rect">
            <a:avLst/>
          </a:prstGeom>
          <a:noFill/>
        </p:spPr>
        <p:txBody>
          <a:bodyPr wrap="square">
            <a:spAutoFit/>
          </a:bodyPr>
          <a:lstStyle/>
          <a:p>
            <a:pPr algn="l"/>
            <a:r>
              <a:rPr sz="1050" b="1" i="0">
                <a:solidFill>
                  <a:srgbClr val="00C88A"/>
                </a:solidFill>
              </a:rPr>
              <a:t>7. Winning teams win in multiple ways</a:t>
            </a:r>
          </a:p>
        </p:txBody>
      </p:sp>
      <p:sp>
        <p:nvSpPr>
          <p:cNvPr id="34" name="TextBox 33"/>
          <p:cNvSpPr txBox="1"/>
          <p:nvPr/>
        </p:nvSpPr>
        <p:spPr>
          <a:xfrm>
            <a:off x="429768" y="6473952"/>
            <a:ext cx="11247120" cy="320040"/>
          </a:xfrm>
          <a:prstGeom prst="rect">
            <a:avLst/>
          </a:prstGeom>
          <a:noFill/>
        </p:spPr>
        <p:txBody>
          <a:bodyPr wrap="square">
            <a:spAutoFit/>
          </a:bodyPr>
          <a:lstStyle/>
          <a:p>
            <a:pPr algn="l"/>
            <a:r>
              <a:rPr sz="1000" b="0" i="0">
                <a:solidFill>
                  <a:srgbClr val="CCD6E0"/>
                </a:solidFill>
              </a:rPr>
              <a:t>Top teams (MI, GT, RCB) show balanced or bowling-dominant win compositions — no single tactical blueprint dominates.</a:t>
            </a:r>
          </a:p>
        </p:txBody>
      </p:sp>
      <p:sp>
        <p:nvSpPr>
          <p:cNvPr id="35" name="TextBox 34"/>
          <p:cNvSpPr txBox="1"/>
          <p:nvPr/>
        </p:nvSpPr>
        <p:spPr>
          <a:xfrm>
            <a:off x="11247120" y="6492240"/>
            <a:ext cx="822960" cy="320040"/>
          </a:xfrm>
          <a:prstGeom prst="rect">
            <a:avLst/>
          </a:prstGeom>
          <a:noFill/>
        </p:spPr>
        <p:txBody>
          <a:bodyPr wrap="square">
            <a:spAutoFit/>
          </a:bodyPr>
          <a:lstStyle/>
          <a:p>
            <a:pPr algn="r"/>
            <a:r>
              <a:rPr sz="900" b="0" i="0">
                <a:solidFill>
                  <a:srgbClr val="CCD6E0"/>
                </a:solidFill>
              </a:rP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